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4630400" cy="8229600"/>
  <p:notesSz cx="8229600" cy="14630400"/>
  <p:embeddedFontLst>
    <p:embeddedFont>
      <p:font typeface="Calibri" panose="020F0502020204030204" pitchFamily="34" charset="0"/>
      <p:regular r:id="rId21"/>
      <p:bold r:id="rId22"/>
      <p:italic r:id="rId23"/>
      <p:boldItalic r:id="rId24"/>
    </p:embeddedFont>
    <p:embeddedFont>
      <p:font typeface="Consolas" panose="020B0609020204030204" pitchFamily="49" charset="0"/>
      <p:regular r:id="rId25"/>
      <p:bold r:id="rId26"/>
      <p:italic r:id="rId27"/>
      <p:boldItalic r:id="rId28"/>
    </p:embeddedFont>
    <p:embeddedFont>
      <p:font typeface="Source Sans 3"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7" d="100"/>
          <a:sy n="57" d="100"/>
        </p:scale>
        <p:origin x="55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78743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3.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6.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7.xml"/><Relationship Id="rId5" Type="http://schemas.openxmlformats.org/officeDocument/2006/relationships/image" Target="../media/image3.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9.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198" y="1273493"/>
            <a:ext cx="7416403" cy="1402556"/>
          </a:xfrm>
          <a:prstGeom prst="rect">
            <a:avLst/>
          </a:prstGeom>
          <a:noFill/>
          <a:ln/>
        </p:spPr>
        <p:txBody>
          <a:bodyPr wrap="square" lIns="0" tIns="0" rIns="0" bIns="0" rtlCol="0" anchor="t"/>
          <a:lstStyle/>
          <a:p>
            <a:pPr marL="0" indent="0" algn="l">
              <a:lnSpc>
                <a:spcPts val="5500"/>
              </a:lnSpc>
              <a:buNone/>
            </a:pPr>
            <a:r>
              <a:rPr lang="en-US" sz="4400" b="1" dirty="0">
                <a:solidFill>
                  <a:srgbClr val="FFFFFF"/>
                </a:solidFill>
                <a:latin typeface="Montserrat Bold" pitchFamily="34" charset="0"/>
                <a:ea typeface="Montserrat Bold" pitchFamily="34" charset="-122"/>
                <a:cs typeface="Montserrat Bold" pitchFamily="34" charset="-120"/>
              </a:rPr>
              <a:t>Advanced Credit Card Fraud Detection</a:t>
            </a:r>
            <a:endParaRPr lang="en-US" sz="4400" dirty="0"/>
          </a:p>
        </p:txBody>
      </p:sp>
      <p:sp>
        <p:nvSpPr>
          <p:cNvPr id="4" name="Text 1"/>
          <p:cNvSpPr/>
          <p:nvPr/>
        </p:nvSpPr>
        <p:spPr>
          <a:xfrm>
            <a:off x="6350198" y="2774752"/>
            <a:ext cx="7416403" cy="1682710"/>
          </a:xfrm>
          <a:prstGeom prst="rect">
            <a:avLst/>
          </a:prstGeom>
          <a:noFill/>
          <a:ln/>
        </p:spPr>
        <p:txBody>
          <a:bodyPr wrap="square" lIns="0" tIns="0" rIns="0" bIns="0" rtlCol="0" anchor="t"/>
          <a:lstStyle/>
          <a:p>
            <a:pPr marL="0" indent="0" algn="l">
              <a:lnSpc>
                <a:spcPts val="4400"/>
              </a:lnSpc>
              <a:buNone/>
            </a:pPr>
            <a:r>
              <a:rPr lang="en-US" sz="3500" b="1" dirty="0">
                <a:solidFill>
                  <a:srgbClr val="FFFFFF"/>
                </a:solidFill>
                <a:latin typeface="Montserrat Bold" pitchFamily="34" charset="0"/>
                <a:ea typeface="Montserrat Bold" pitchFamily="34" charset="-122"/>
                <a:cs typeface="Montserrat Bold" pitchFamily="34" charset="-120"/>
              </a:rPr>
              <a:t>Building a Smart Machine Learning System using XGBoost</a:t>
            </a:r>
            <a:endParaRPr lang="en-US" sz="3500" dirty="0"/>
          </a:p>
        </p:txBody>
      </p:sp>
      <p:sp>
        <p:nvSpPr>
          <p:cNvPr id="5" name="Text 2"/>
          <p:cNvSpPr/>
          <p:nvPr/>
        </p:nvSpPr>
        <p:spPr>
          <a:xfrm>
            <a:off x="6350198" y="4827627"/>
            <a:ext cx="7416403" cy="740331"/>
          </a:xfrm>
          <a:prstGeom prst="rect">
            <a:avLst/>
          </a:prstGeom>
          <a:noFill/>
          <a:ln/>
        </p:spPr>
        <p:txBody>
          <a:bodyPr wrap="square" lIns="0" tIns="0" rIns="0" bIns="0" rtlCol="0" anchor="t"/>
          <a:lstStyle/>
          <a:p>
            <a:pPr marL="0" indent="0" algn="l">
              <a:lnSpc>
                <a:spcPts val="2900"/>
              </a:lnSpc>
              <a:buNone/>
            </a:pPr>
            <a:r>
              <a:rPr lang="en-US" sz="1900" dirty="0">
                <a:solidFill>
                  <a:srgbClr val="E2E6E9"/>
                </a:solidFill>
                <a:latin typeface="Source Sans 3" pitchFamily="34" charset="0"/>
                <a:ea typeface="Source Sans 3" pitchFamily="34" charset="-122"/>
                <a:cs typeface="Source Sans 3" pitchFamily="34" charset="-120"/>
              </a:rPr>
              <a:t>Hello everyone, My name is Hamid Leghari, and today I'm presenting my Data Science project based on the IEEE-CIS Fraud Detection dataset.</a:t>
            </a:r>
            <a:endParaRPr lang="en-US" sz="1900" dirty="0"/>
          </a:p>
        </p:txBody>
      </p:sp>
      <p:sp>
        <p:nvSpPr>
          <p:cNvPr id="6" name="Text 3"/>
          <p:cNvSpPr/>
          <p:nvPr/>
        </p:nvSpPr>
        <p:spPr>
          <a:xfrm>
            <a:off x="6350198" y="5845612"/>
            <a:ext cx="7416403" cy="1110496"/>
          </a:xfrm>
          <a:prstGeom prst="rect">
            <a:avLst/>
          </a:prstGeom>
          <a:noFill/>
          <a:ln/>
        </p:spPr>
        <p:txBody>
          <a:bodyPr wrap="square" lIns="0" tIns="0" rIns="0" bIns="0" rtlCol="0" anchor="t"/>
          <a:lstStyle/>
          <a:p>
            <a:pPr marL="0" indent="0" algn="l">
              <a:lnSpc>
                <a:spcPts val="2900"/>
              </a:lnSpc>
              <a:buNone/>
            </a:pPr>
            <a:r>
              <a:rPr lang="en-US" sz="1900" dirty="0">
                <a:solidFill>
                  <a:srgbClr val="E2E6E9"/>
                </a:solidFill>
                <a:latin typeface="Source Sans 3" pitchFamily="34" charset="0"/>
                <a:ea typeface="Source Sans 3" pitchFamily="34" charset="-122"/>
                <a:cs typeface="Source Sans 3" pitchFamily="34" charset="-120"/>
              </a:rPr>
              <a:t>In this project, I built a complete machine learning pipeline that detects credit card fraud with very high recall, meaning it catches most fraud cases before they cause damage.</a:t>
            </a:r>
            <a:endParaRPr lang="en-US" sz="1900" dirty="0"/>
          </a:p>
        </p:txBody>
      </p:sp>
      <p:pic>
        <p:nvPicPr>
          <p:cNvPr id="8" name="Picture 7">
            <a:extLst>
              <a:ext uri="{FF2B5EF4-FFF2-40B4-BE49-F238E27FC236}">
                <a16:creationId xmlns:a16="http://schemas.microsoft.com/office/drawing/2014/main" id="{422EB7BC-EA49-45FD-B10E-4CDFBFDC04BE}"/>
              </a:ext>
            </a:extLst>
          </p:cNvPr>
          <p:cNvPicPr>
            <a:picLocks noChangeAspect="1"/>
          </p:cNvPicPr>
          <p:nvPr/>
        </p:nvPicPr>
        <p:blipFill>
          <a:blip r:embed="rId4"/>
          <a:stretch>
            <a:fillRect/>
          </a:stretch>
        </p:blipFill>
        <p:spPr>
          <a:xfrm>
            <a:off x="10813854" y="7258000"/>
            <a:ext cx="3816546" cy="97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3798" y="830699"/>
            <a:ext cx="12266295" cy="666155"/>
          </a:xfrm>
          <a:prstGeom prst="rect">
            <a:avLst/>
          </a:prstGeom>
          <a:noFill/>
          <a:ln/>
        </p:spPr>
        <p:txBody>
          <a:bodyPr wrap="none" lIns="0" tIns="0" rIns="0" bIns="0" rtlCol="0" anchor="t"/>
          <a:lstStyle/>
          <a:p>
            <a:pPr marL="0" indent="0" algn="l">
              <a:lnSpc>
                <a:spcPts val="5200"/>
              </a:lnSpc>
              <a:buNone/>
            </a:pPr>
            <a:r>
              <a:rPr lang="en-US" sz="4150" b="1" dirty="0">
                <a:solidFill>
                  <a:srgbClr val="FFFFFF"/>
                </a:solidFill>
                <a:latin typeface="Montserrat Bold" pitchFamily="34" charset="0"/>
                <a:ea typeface="Montserrat Bold" pitchFamily="34" charset="-122"/>
                <a:cs typeface="Montserrat Bold" pitchFamily="34" charset="-120"/>
              </a:rPr>
              <a:t>The Problem : Why Fraud Detection Matters</a:t>
            </a:r>
            <a:endParaRPr lang="en-US" sz="4150" dirty="0"/>
          </a:p>
        </p:txBody>
      </p:sp>
      <p:sp>
        <p:nvSpPr>
          <p:cNvPr id="3" name="Text 1"/>
          <p:cNvSpPr/>
          <p:nvPr/>
        </p:nvSpPr>
        <p:spPr>
          <a:xfrm>
            <a:off x="863798" y="1942267"/>
            <a:ext cx="12902803" cy="342781"/>
          </a:xfrm>
          <a:prstGeom prst="rect">
            <a:avLst/>
          </a:prstGeom>
          <a:noFill/>
          <a:ln/>
        </p:spPr>
        <p:txBody>
          <a:bodyPr wrap="none" lIns="0" tIns="0" rIns="0" bIns="0" rtlCol="0" anchor="t"/>
          <a:lstStyle/>
          <a:p>
            <a:pPr marL="0" indent="0" algn="l">
              <a:lnSpc>
                <a:spcPts val="2700"/>
              </a:lnSpc>
              <a:buNone/>
            </a:pPr>
            <a:r>
              <a:rPr lang="en-US" sz="1800" dirty="0">
                <a:solidFill>
                  <a:srgbClr val="E2E6E9"/>
                </a:solidFill>
                <a:latin typeface="Source Sans 3" pitchFamily="34" charset="0"/>
                <a:ea typeface="Source Sans 3" pitchFamily="34" charset="-122"/>
                <a:cs typeface="Source Sans 3" pitchFamily="34" charset="-120"/>
              </a:rPr>
              <a:t>So first… what is fraud detection?</a:t>
            </a:r>
            <a:endParaRPr lang="en-US" sz="1800" dirty="0"/>
          </a:p>
        </p:txBody>
      </p:sp>
      <p:sp>
        <p:nvSpPr>
          <p:cNvPr id="4" name="Text 2"/>
          <p:cNvSpPr/>
          <p:nvPr/>
        </p:nvSpPr>
        <p:spPr>
          <a:xfrm>
            <a:off x="863798" y="2535555"/>
            <a:ext cx="12902803" cy="342781"/>
          </a:xfrm>
          <a:prstGeom prst="rect">
            <a:avLst/>
          </a:prstGeom>
          <a:noFill/>
          <a:ln/>
        </p:spPr>
        <p:txBody>
          <a:bodyPr wrap="none" lIns="0" tIns="0" rIns="0" bIns="0" rtlCol="0" anchor="t"/>
          <a:lstStyle/>
          <a:p>
            <a:pPr marL="0" indent="0" algn="l">
              <a:lnSpc>
                <a:spcPts val="2700"/>
              </a:lnSpc>
              <a:buNone/>
            </a:pPr>
            <a:r>
              <a:rPr lang="en-US" sz="1800" dirty="0">
                <a:solidFill>
                  <a:srgbClr val="E2E6E9"/>
                </a:solidFill>
                <a:latin typeface="Source Sans 3" pitchFamily="34" charset="0"/>
                <a:ea typeface="Source Sans 3" pitchFamily="34" charset="-122"/>
                <a:cs typeface="Source Sans 3" pitchFamily="34" charset="-120"/>
              </a:rPr>
              <a:t>It is an automated system that checks every credit card transaction in real time and decides whether it is:</a:t>
            </a:r>
            <a:endParaRPr lang="en-US" sz="1800" dirty="0"/>
          </a:p>
        </p:txBody>
      </p:sp>
      <p:sp>
        <p:nvSpPr>
          <p:cNvPr id="5" name="Text 3"/>
          <p:cNvSpPr/>
          <p:nvPr/>
        </p:nvSpPr>
        <p:spPr>
          <a:xfrm>
            <a:off x="863798" y="3212425"/>
            <a:ext cx="3197543" cy="399693"/>
          </a:xfrm>
          <a:prstGeom prst="rect">
            <a:avLst/>
          </a:prstGeom>
          <a:noFill/>
          <a:ln/>
        </p:spPr>
        <p:txBody>
          <a:bodyPr wrap="none" lIns="0" tIns="0" rIns="0" bIns="0" rtlCol="0" anchor="t"/>
          <a:lstStyle/>
          <a:p>
            <a:pPr marL="0" indent="0" algn="l">
              <a:lnSpc>
                <a:spcPts val="3100"/>
              </a:lnSpc>
              <a:buNone/>
            </a:pPr>
            <a:r>
              <a:rPr lang="en-US" sz="2500" b="1" dirty="0">
                <a:solidFill>
                  <a:srgbClr val="FFFFFF"/>
                </a:solidFill>
                <a:latin typeface="Montserrat Bold" pitchFamily="34" charset="0"/>
                <a:ea typeface="Montserrat Bold" pitchFamily="34" charset="-122"/>
                <a:cs typeface="Montserrat Bold" pitchFamily="34" charset="-120"/>
              </a:rPr>
              <a:t>Genuine Or Fraud</a:t>
            </a:r>
            <a:endParaRPr lang="en-US" sz="2500" dirty="0"/>
          </a:p>
        </p:txBody>
      </p:sp>
      <p:sp>
        <p:nvSpPr>
          <p:cNvPr id="6" name="Text 4"/>
          <p:cNvSpPr/>
          <p:nvPr/>
        </p:nvSpPr>
        <p:spPr>
          <a:xfrm>
            <a:off x="863798" y="3701177"/>
            <a:ext cx="3821192" cy="399693"/>
          </a:xfrm>
          <a:prstGeom prst="rect">
            <a:avLst/>
          </a:prstGeom>
          <a:noFill/>
          <a:ln/>
        </p:spPr>
        <p:txBody>
          <a:bodyPr wrap="none" lIns="0" tIns="0" rIns="0" bIns="0" rtlCol="0" anchor="t"/>
          <a:lstStyle/>
          <a:p>
            <a:pPr marL="0" indent="0" algn="l">
              <a:lnSpc>
                <a:spcPts val="3100"/>
              </a:lnSpc>
              <a:buNone/>
            </a:pPr>
            <a:r>
              <a:rPr lang="en-US" sz="2500" b="1" dirty="0">
                <a:solidFill>
                  <a:srgbClr val="FFFFFF"/>
                </a:solidFill>
                <a:latin typeface="Montserrat Bold" pitchFamily="34" charset="0"/>
                <a:ea typeface="Montserrat Bold" pitchFamily="34" charset="-122"/>
                <a:cs typeface="Montserrat Bold" pitchFamily="34" charset="-120"/>
              </a:rPr>
              <a:t>Why is this important?</a:t>
            </a:r>
            <a:endParaRPr lang="en-US" sz="2500" dirty="0"/>
          </a:p>
        </p:txBody>
      </p:sp>
      <p:sp>
        <p:nvSpPr>
          <p:cNvPr id="7" name="Text 5"/>
          <p:cNvSpPr/>
          <p:nvPr/>
        </p:nvSpPr>
        <p:spPr>
          <a:xfrm>
            <a:off x="863798" y="4434959"/>
            <a:ext cx="12902803" cy="1184077"/>
          </a:xfrm>
          <a:prstGeom prst="rect">
            <a:avLst/>
          </a:prstGeom>
          <a:noFill/>
          <a:ln/>
        </p:spPr>
        <p:txBody>
          <a:bodyPr wrap="square" lIns="0" tIns="0" rIns="0" bIns="0" rtlCol="0" anchor="t"/>
          <a:lstStyle/>
          <a:p>
            <a:pPr marL="342900" indent="-342900" algn="l">
              <a:lnSpc>
                <a:spcPts val="2700"/>
              </a:lnSpc>
              <a:buSzPct val="100000"/>
              <a:buChar char="•"/>
            </a:pPr>
            <a:r>
              <a:rPr lang="en-US" sz="1800" dirty="0">
                <a:solidFill>
                  <a:srgbClr val="E2E6E9"/>
                </a:solidFill>
                <a:latin typeface="Source Sans 3" pitchFamily="34" charset="0"/>
                <a:ea typeface="Source Sans 3" pitchFamily="34" charset="-122"/>
                <a:cs typeface="Source Sans 3" pitchFamily="34" charset="-120"/>
              </a:rPr>
              <a:t>Credit card fraud causes billions of dollars in losses every year.</a:t>
            </a:r>
            <a:endParaRPr lang="en-US" sz="1800" dirty="0"/>
          </a:p>
          <a:p>
            <a:pPr marL="342900" indent="-342900" algn="l">
              <a:lnSpc>
                <a:spcPts val="2700"/>
              </a:lnSpc>
              <a:buSzPct val="100000"/>
              <a:buChar char="•"/>
            </a:pPr>
            <a:r>
              <a:rPr lang="en-US" sz="1800" dirty="0">
                <a:solidFill>
                  <a:srgbClr val="E2E6E9"/>
                </a:solidFill>
                <a:latin typeface="Source Sans 3" pitchFamily="34" charset="0"/>
                <a:ea typeface="Source Sans 3" pitchFamily="34" charset="-122"/>
                <a:cs typeface="Source Sans 3" pitchFamily="34" charset="-120"/>
              </a:rPr>
              <a:t>Banks process millions of transactions daily.</a:t>
            </a:r>
            <a:endParaRPr lang="en-US" sz="1800" dirty="0"/>
          </a:p>
          <a:p>
            <a:pPr marL="342900" indent="-342900" algn="l">
              <a:lnSpc>
                <a:spcPts val="2700"/>
              </a:lnSpc>
              <a:buSzPct val="100000"/>
              <a:buChar char="•"/>
            </a:pPr>
            <a:r>
              <a:rPr lang="en-US" sz="1800" dirty="0">
                <a:solidFill>
                  <a:srgbClr val="E2E6E9"/>
                </a:solidFill>
                <a:latin typeface="Source Sans 3" pitchFamily="34" charset="0"/>
                <a:ea typeface="Source Sans 3" pitchFamily="34" charset="-122"/>
                <a:cs typeface="Source Sans 3" pitchFamily="34" charset="-120"/>
              </a:rPr>
              <a:t>Manual checking is impossible.</a:t>
            </a:r>
            <a:endParaRPr lang="en-US" sz="1800" dirty="0"/>
          </a:p>
        </p:txBody>
      </p:sp>
      <p:sp>
        <p:nvSpPr>
          <p:cNvPr id="8" name="Text 6"/>
          <p:cNvSpPr/>
          <p:nvPr/>
        </p:nvSpPr>
        <p:spPr>
          <a:xfrm>
            <a:off x="863798" y="5869543"/>
            <a:ext cx="12902803" cy="342781"/>
          </a:xfrm>
          <a:prstGeom prst="rect">
            <a:avLst/>
          </a:prstGeom>
          <a:noFill/>
          <a:ln/>
        </p:spPr>
        <p:txBody>
          <a:bodyPr wrap="none" lIns="0" tIns="0" rIns="0" bIns="0" rtlCol="0" anchor="t"/>
          <a:lstStyle/>
          <a:p>
            <a:pPr marL="0" indent="0" algn="l">
              <a:lnSpc>
                <a:spcPts val="2700"/>
              </a:lnSpc>
              <a:buNone/>
            </a:pPr>
            <a:r>
              <a:rPr lang="en-US" sz="1800" dirty="0">
                <a:solidFill>
                  <a:srgbClr val="E2E6E9"/>
                </a:solidFill>
                <a:latin typeface="Source Sans 3" pitchFamily="34" charset="0"/>
                <a:ea typeface="Source Sans 3" pitchFamily="34" charset="-122"/>
                <a:cs typeface="Source Sans 3" pitchFamily="34" charset="-120"/>
              </a:rPr>
              <a:t>Our goal is very clear:</a:t>
            </a:r>
            <a:endParaRPr lang="en-US" sz="1800" dirty="0"/>
          </a:p>
        </p:txBody>
      </p:sp>
      <p:sp>
        <p:nvSpPr>
          <p:cNvPr id="9" name="Text 7"/>
          <p:cNvSpPr/>
          <p:nvPr/>
        </p:nvSpPr>
        <p:spPr>
          <a:xfrm>
            <a:off x="863798" y="6462832"/>
            <a:ext cx="12902803" cy="342781"/>
          </a:xfrm>
          <a:prstGeom prst="rect">
            <a:avLst/>
          </a:prstGeom>
          <a:noFill/>
          <a:ln/>
        </p:spPr>
        <p:txBody>
          <a:bodyPr wrap="none" lIns="0" tIns="0" rIns="0" bIns="0" rtlCol="0" anchor="t"/>
          <a:lstStyle/>
          <a:p>
            <a:pPr marL="0" indent="0" algn="l">
              <a:lnSpc>
                <a:spcPts val="2700"/>
              </a:lnSpc>
              <a:buNone/>
            </a:pPr>
            <a:r>
              <a:rPr lang="en-US" sz="1800" dirty="0">
                <a:solidFill>
                  <a:srgbClr val="000000"/>
                </a:solidFill>
                <a:latin typeface="Source Sans 3" pitchFamily="34" charset="0"/>
                <a:ea typeface="Source Sans 3" pitchFamily="34" charset="-122"/>
                <a:cs typeface="Source Sans 3" pitchFamily="34" charset="-120"/>
              </a:rPr>
              <a:t>✔</a:t>
            </a:r>
            <a:r>
              <a:rPr lang="en-US" sz="1800" dirty="0">
                <a:solidFill>
                  <a:srgbClr val="E2E6E9"/>
                </a:solidFill>
                <a:latin typeface="Source Sans 3" pitchFamily="34" charset="0"/>
                <a:ea typeface="Source Sans 3" pitchFamily="34" charset="-122"/>
                <a:cs typeface="Source Sans 3" pitchFamily="34" charset="-120"/>
              </a:rPr>
              <a:t> Catch as many fraud cases as possible (High Recall).</a:t>
            </a:r>
            <a:endParaRPr lang="en-US" sz="1800" dirty="0"/>
          </a:p>
        </p:txBody>
      </p:sp>
      <p:sp>
        <p:nvSpPr>
          <p:cNvPr id="10" name="Text 8"/>
          <p:cNvSpPr/>
          <p:nvPr/>
        </p:nvSpPr>
        <p:spPr>
          <a:xfrm>
            <a:off x="863798" y="7056120"/>
            <a:ext cx="12902803" cy="342781"/>
          </a:xfrm>
          <a:prstGeom prst="rect">
            <a:avLst/>
          </a:prstGeom>
          <a:noFill/>
          <a:ln/>
        </p:spPr>
        <p:txBody>
          <a:bodyPr wrap="none" lIns="0" tIns="0" rIns="0" bIns="0" rtlCol="0" anchor="t"/>
          <a:lstStyle/>
          <a:p>
            <a:pPr marL="0" indent="0" algn="l">
              <a:lnSpc>
                <a:spcPts val="2700"/>
              </a:lnSpc>
              <a:buNone/>
            </a:pPr>
            <a:r>
              <a:rPr lang="en-US" sz="1800" b="1" dirty="0">
                <a:solidFill>
                  <a:srgbClr val="E2E6E9"/>
                </a:solidFill>
                <a:latin typeface="Source Sans 3" pitchFamily="34" charset="0"/>
                <a:ea typeface="Source Sans 3" pitchFamily="34" charset="-122"/>
                <a:cs typeface="Source Sans 3" pitchFamily="34" charset="-120"/>
              </a:rPr>
              <a:t>Balancing this is the real challenge.</a:t>
            </a:r>
            <a:endParaRPr lang="en-US" sz="1800" dirty="0"/>
          </a:p>
        </p:txBody>
      </p:sp>
      <p:pic>
        <p:nvPicPr>
          <p:cNvPr id="12" name="Picture 11">
            <a:extLst>
              <a:ext uri="{FF2B5EF4-FFF2-40B4-BE49-F238E27FC236}">
                <a16:creationId xmlns:a16="http://schemas.microsoft.com/office/drawing/2014/main" id="{3A3597BD-DA22-4DD7-8B0E-BBE796A8ACB5}"/>
              </a:ext>
            </a:extLst>
          </p:cNvPr>
          <p:cNvPicPr>
            <a:picLocks noChangeAspect="1"/>
          </p:cNvPicPr>
          <p:nvPr/>
        </p:nvPicPr>
        <p:blipFill>
          <a:blip r:embed="rId3"/>
          <a:stretch>
            <a:fillRect/>
          </a:stretch>
        </p:blipFill>
        <p:spPr>
          <a:xfrm>
            <a:off x="10813854" y="7227510"/>
            <a:ext cx="3816546" cy="97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3798" y="894398"/>
            <a:ext cx="10239494" cy="560903"/>
          </a:xfrm>
          <a:prstGeom prst="rect">
            <a:avLst/>
          </a:prstGeom>
          <a:noFill/>
          <a:ln/>
        </p:spPr>
        <p:txBody>
          <a:bodyPr wrap="none" lIns="0" tIns="0" rIns="0" bIns="0" rtlCol="0" anchor="t"/>
          <a:lstStyle/>
          <a:p>
            <a:pPr marL="0" indent="0" algn="l">
              <a:lnSpc>
                <a:spcPts val="4400"/>
              </a:lnSpc>
              <a:buNone/>
            </a:pPr>
            <a:r>
              <a:rPr lang="en-US" sz="3500" b="1" dirty="0">
                <a:solidFill>
                  <a:srgbClr val="FFFFFF"/>
                </a:solidFill>
                <a:latin typeface="Montserrat Bold" pitchFamily="34" charset="0"/>
                <a:ea typeface="Montserrat Bold" pitchFamily="34" charset="-122"/>
                <a:cs typeface="Montserrat Bold" pitchFamily="34" charset="-120"/>
              </a:rPr>
              <a:t>Dataset:IEEE-CIS Competition (Kaggle 2019)</a:t>
            </a:r>
            <a:endParaRPr lang="en-US" sz="3500" dirty="0"/>
          </a:p>
        </p:txBody>
      </p:sp>
      <p:sp>
        <p:nvSpPr>
          <p:cNvPr id="3" name="Text 1"/>
          <p:cNvSpPr/>
          <p:nvPr/>
        </p:nvSpPr>
        <p:spPr>
          <a:xfrm>
            <a:off x="863798" y="1771174"/>
            <a:ext cx="12902803" cy="266581"/>
          </a:xfrm>
          <a:prstGeom prst="rect">
            <a:avLst/>
          </a:prstGeom>
          <a:noFill/>
          <a:ln/>
        </p:spPr>
        <p:txBody>
          <a:bodyPr wrap="none" lIns="0" tIns="0" rIns="0" bIns="0" rtlCol="0" anchor="t"/>
          <a:lstStyle/>
          <a:p>
            <a:pPr marL="0" indent="0" algn="l">
              <a:lnSpc>
                <a:spcPts val="2050"/>
              </a:lnSpc>
              <a:buNone/>
            </a:pPr>
            <a:r>
              <a:rPr lang="en-US" sz="1550" dirty="0">
                <a:solidFill>
                  <a:srgbClr val="E2E6E9"/>
                </a:solidFill>
                <a:latin typeface="Source Sans 3" pitchFamily="34" charset="0"/>
                <a:ea typeface="Source Sans 3" pitchFamily="34" charset="-122"/>
                <a:cs typeface="Source Sans 3" pitchFamily="34" charset="-120"/>
              </a:rPr>
              <a:t>This dataset comes from a 2019 Kaggle competition hosted by IEEE and Vesta Corporation.</a:t>
            </a:r>
            <a:endParaRPr lang="en-US" sz="1550" dirty="0"/>
          </a:p>
        </p:txBody>
      </p:sp>
      <p:sp>
        <p:nvSpPr>
          <p:cNvPr id="4" name="Text 2"/>
          <p:cNvSpPr/>
          <p:nvPr/>
        </p:nvSpPr>
        <p:spPr>
          <a:xfrm>
            <a:off x="863798" y="2215396"/>
            <a:ext cx="12902803" cy="266581"/>
          </a:xfrm>
          <a:prstGeom prst="rect">
            <a:avLst/>
          </a:prstGeom>
          <a:noFill/>
          <a:ln/>
        </p:spPr>
        <p:txBody>
          <a:bodyPr wrap="none" lIns="0" tIns="0" rIns="0" bIns="0" rtlCol="0" anchor="t"/>
          <a:lstStyle/>
          <a:p>
            <a:pPr marL="0" indent="0" algn="l">
              <a:lnSpc>
                <a:spcPts val="2050"/>
              </a:lnSpc>
              <a:buNone/>
            </a:pPr>
            <a:r>
              <a:rPr lang="en-US" sz="1550" dirty="0">
                <a:solidFill>
                  <a:srgbClr val="E2E6E9"/>
                </a:solidFill>
                <a:latin typeface="Source Sans 3" pitchFamily="34" charset="0"/>
                <a:ea typeface="Source Sans 3" pitchFamily="34" charset="-122"/>
                <a:cs typeface="Source Sans 3" pitchFamily="34" charset="-120"/>
              </a:rPr>
              <a:t>It contains real-world e-commerce transaction data.</a:t>
            </a:r>
            <a:endParaRPr lang="en-US" sz="1550" dirty="0"/>
          </a:p>
        </p:txBody>
      </p:sp>
      <p:sp>
        <p:nvSpPr>
          <p:cNvPr id="5" name="Text 3"/>
          <p:cNvSpPr/>
          <p:nvPr/>
        </p:nvSpPr>
        <p:spPr>
          <a:xfrm>
            <a:off x="863798" y="2718911"/>
            <a:ext cx="2692598" cy="336590"/>
          </a:xfrm>
          <a:prstGeom prst="rect">
            <a:avLst/>
          </a:prstGeom>
          <a:noFill/>
          <a:ln/>
        </p:spPr>
        <p:txBody>
          <a:bodyPr wrap="none" lIns="0" tIns="0" rIns="0" bIns="0" rtlCol="0" anchor="t"/>
          <a:lstStyle/>
          <a:p>
            <a:pPr marL="0" indent="0" algn="l">
              <a:lnSpc>
                <a:spcPts val="2650"/>
              </a:lnSpc>
              <a:buNone/>
            </a:pPr>
            <a:r>
              <a:rPr lang="en-US" sz="2100" b="1" dirty="0">
                <a:solidFill>
                  <a:srgbClr val="FFFFFF"/>
                </a:solidFill>
                <a:latin typeface="Montserrat Bold" pitchFamily="34" charset="0"/>
                <a:ea typeface="Montserrat Bold" pitchFamily="34" charset="-122"/>
                <a:cs typeface="Montserrat Bold" pitchFamily="34" charset="-120"/>
              </a:rPr>
              <a:t>Dataset size:</a:t>
            </a:r>
            <a:endParaRPr lang="en-US" sz="2100" dirty="0"/>
          </a:p>
        </p:txBody>
      </p:sp>
      <p:sp>
        <p:nvSpPr>
          <p:cNvPr id="6" name="Text 4"/>
          <p:cNvSpPr/>
          <p:nvPr/>
        </p:nvSpPr>
        <p:spPr>
          <a:xfrm>
            <a:off x="1280755" y="3391138"/>
            <a:ext cx="3335417" cy="651629"/>
          </a:xfrm>
          <a:prstGeom prst="rect">
            <a:avLst/>
          </a:prstGeom>
          <a:noFill/>
          <a:ln/>
        </p:spPr>
        <p:txBody>
          <a:bodyPr wrap="none" lIns="0" tIns="0" rIns="0" bIns="0" rtlCol="0" anchor="t"/>
          <a:lstStyle/>
          <a:p>
            <a:pPr marL="0" indent="0" algn="ctr">
              <a:lnSpc>
                <a:spcPts val="5100"/>
              </a:lnSpc>
              <a:buNone/>
            </a:pPr>
            <a:r>
              <a:rPr lang="en-US" sz="5100" b="1" dirty="0">
                <a:solidFill>
                  <a:srgbClr val="E2E6E9"/>
                </a:solidFill>
                <a:latin typeface="Montserrat Bold" pitchFamily="34" charset="0"/>
                <a:ea typeface="Montserrat Bold" pitchFamily="34" charset="-122"/>
                <a:cs typeface="Montserrat Bold" pitchFamily="34" charset="-120"/>
              </a:rPr>
              <a:t>590,540</a:t>
            </a:r>
            <a:endParaRPr lang="en-US" sz="5100" dirty="0"/>
          </a:p>
        </p:txBody>
      </p:sp>
      <p:sp>
        <p:nvSpPr>
          <p:cNvPr id="7" name="Text 5"/>
          <p:cNvSpPr/>
          <p:nvPr/>
        </p:nvSpPr>
        <p:spPr>
          <a:xfrm>
            <a:off x="863798" y="4259937"/>
            <a:ext cx="4169331" cy="266581"/>
          </a:xfrm>
          <a:prstGeom prst="rect">
            <a:avLst/>
          </a:prstGeom>
          <a:noFill/>
          <a:ln/>
        </p:spPr>
        <p:txBody>
          <a:bodyPr wrap="none" lIns="0" tIns="0" rIns="0" bIns="0" rtlCol="0" anchor="t"/>
          <a:lstStyle/>
          <a:p>
            <a:pPr marL="0" indent="0" algn="ctr">
              <a:lnSpc>
                <a:spcPts val="2050"/>
              </a:lnSpc>
              <a:buNone/>
            </a:pPr>
            <a:r>
              <a:rPr lang="en-US" sz="1550" dirty="0">
                <a:solidFill>
                  <a:srgbClr val="E2E6E9"/>
                </a:solidFill>
                <a:latin typeface="Source Sans 3" pitchFamily="34" charset="0"/>
                <a:ea typeface="Source Sans 3" pitchFamily="34" charset="-122"/>
                <a:cs typeface="Source Sans 3" pitchFamily="34" charset="-120"/>
              </a:rPr>
              <a:t>rows</a:t>
            </a:r>
            <a:endParaRPr lang="en-US" sz="1550" dirty="0"/>
          </a:p>
        </p:txBody>
      </p:sp>
      <p:sp>
        <p:nvSpPr>
          <p:cNvPr id="8" name="Text 6"/>
          <p:cNvSpPr/>
          <p:nvPr/>
        </p:nvSpPr>
        <p:spPr>
          <a:xfrm>
            <a:off x="5647492" y="3391138"/>
            <a:ext cx="3335417" cy="651629"/>
          </a:xfrm>
          <a:prstGeom prst="rect">
            <a:avLst/>
          </a:prstGeom>
          <a:noFill/>
          <a:ln/>
        </p:spPr>
        <p:txBody>
          <a:bodyPr wrap="none" lIns="0" tIns="0" rIns="0" bIns="0" rtlCol="0" anchor="t"/>
          <a:lstStyle/>
          <a:p>
            <a:pPr marL="0" indent="0" algn="ctr">
              <a:lnSpc>
                <a:spcPts val="5100"/>
              </a:lnSpc>
              <a:buNone/>
            </a:pPr>
            <a:r>
              <a:rPr lang="en-US" sz="5100" b="1" dirty="0">
                <a:solidFill>
                  <a:srgbClr val="E2E6E9"/>
                </a:solidFill>
                <a:latin typeface="Montserrat Bold" pitchFamily="34" charset="0"/>
                <a:ea typeface="Montserrat Bold" pitchFamily="34" charset="-122"/>
                <a:cs typeface="Montserrat Bold" pitchFamily="34" charset="-120"/>
              </a:rPr>
              <a:t>434</a:t>
            </a:r>
            <a:endParaRPr lang="en-US" sz="5100" dirty="0"/>
          </a:p>
        </p:txBody>
      </p:sp>
      <p:sp>
        <p:nvSpPr>
          <p:cNvPr id="9" name="Text 7"/>
          <p:cNvSpPr/>
          <p:nvPr/>
        </p:nvSpPr>
        <p:spPr>
          <a:xfrm>
            <a:off x="5230535" y="4259937"/>
            <a:ext cx="4169331" cy="266581"/>
          </a:xfrm>
          <a:prstGeom prst="rect">
            <a:avLst/>
          </a:prstGeom>
          <a:noFill/>
          <a:ln/>
        </p:spPr>
        <p:txBody>
          <a:bodyPr wrap="none" lIns="0" tIns="0" rIns="0" bIns="0" rtlCol="0" anchor="t"/>
          <a:lstStyle/>
          <a:p>
            <a:pPr marL="0" indent="0" algn="ctr">
              <a:lnSpc>
                <a:spcPts val="2050"/>
              </a:lnSpc>
              <a:buNone/>
            </a:pPr>
            <a:r>
              <a:rPr lang="en-US" sz="1550" dirty="0">
                <a:solidFill>
                  <a:srgbClr val="E2E6E9"/>
                </a:solidFill>
                <a:latin typeface="Source Sans 3" pitchFamily="34" charset="0"/>
                <a:ea typeface="Source Sans 3" pitchFamily="34" charset="-122"/>
                <a:cs typeface="Source Sans 3" pitchFamily="34" charset="-120"/>
              </a:rPr>
              <a:t>columns</a:t>
            </a:r>
            <a:endParaRPr lang="en-US" sz="1550" dirty="0"/>
          </a:p>
        </p:txBody>
      </p:sp>
      <p:sp>
        <p:nvSpPr>
          <p:cNvPr id="10" name="Text 8"/>
          <p:cNvSpPr/>
          <p:nvPr/>
        </p:nvSpPr>
        <p:spPr>
          <a:xfrm>
            <a:off x="10014228" y="3391138"/>
            <a:ext cx="3335417" cy="651629"/>
          </a:xfrm>
          <a:prstGeom prst="rect">
            <a:avLst/>
          </a:prstGeom>
          <a:noFill/>
          <a:ln/>
        </p:spPr>
        <p:txBody>
          <a:bodyPr wrap="none" lIns="0" tIns="0" rIns="0" bIns="0" rtlCol="0" anchor="t"/>
          <a:lstStyle/>
          <a:p>
            <a:pPr marL="0" indent="0" algn="ctr">
              <a:lnSpc>
                <a:spcPts val="5100"/>
              </a:lnSpc>
              <a:buNone/>
            </a:pPr>
            <a:r>
              <a:rPr lang="en-US" sz="5100" b="1" dirty="0">
                <a:solidFill>
                  <a:srgbClr val="E2E6E9"/>
                </a:solidFill>
                <a:latin typeface="Montserrat Bold" pitchFamily="34" charset="0"/>
                <a:ea typeface="Montserrat Bold" pitchFamily="34" charset="-122"/>
                <a:cs typeface="Montserrat Bold" pitchFamily="34" charset="-120"/>
              </a:rPr>
              <a:t>400+</a:t>
            </a:r>
            <a:endParaRPr lang="en-US" sz="5100" dirty="0"/>
          </a:p>
        </p:txBody>
      </p:sp>
      <p:sp>
        <p:nvSpPr>
          <p:cNvPr id="11" name="Text 9"/>
          <p:cNvSpPr/>
          <p:nvPr/>
        </p:nvSpPr>
        <p:spPr>
          <a:xfrm>
            <a:off x="9597271" y="4259937"/>
            <a:ext cx="4169331" cy="266581"/>
          </a:xfrm>
          <a:prstGeom prst="rect">
            <a:avLst/>
          </a:prstGeom>
          <a:noFill/>
          <a:ln/>
        </p:spPr>
        <p:txBody>
          <a:bodyPr wrap="none" lIns="0" tIns="0" rIns="0" bIns="0" rtlCol="0" anchor="t"/>
          <a:lstStyle/>
          <a:p>
            <a:pPr marL="0" indent="0" algn="ctr">
              <a:lnSpc>
                <a:spcPts val="2050"/>
              </a:lnSpc>
              <a:buNone/>
            </a:pPr>
            <a:r>
              <a:rPr lang="en-US" sz="1550" dirty="0">
                <a:solidFill>
                  <a:srgbClr val="E2E6E9"/>
                </a:solidFill>
                <a:latin typeface="Source Sans 3" pitchFamily="34" charset="0"/>
                <a:ea typeface="Source Sans 3" pitchFamily="34" charset="-122"/>
                <a:cs typeface="Source Sans 3" pitchFamily="34" charset="-120"/>
              </a:rPr>
              <a:t>rich features</a:t>
            </a:r>
            <a:endParaRPr lang="en-US" sz="1550" dirty="0"/>
          </a:p>
        </p:txBody>
      </p:sp>
      <p:sp>
        <p:nvSpPr>
          <p:cNvPr id="12" name="Text 10"/>
          <p:cNvSpPr/>
          <p:nvPr/>
        </p:nvSpPr>
        <p:spPr>
          <a:xfrm>
            <a:off x="863798" y="4763453"/>
            <a:ext cx="3030498" cy="336590"/>
          </a:xfrm>
          <a:prstGeom prst="rect">
            <a:avLst/>
          </a:prstGeom>
          <a:noFill/>
          <a:ln/>
        </p:spPr>
        <p:txBody>
          <a:bodyPr wrap="none" lIns="0" tIns="0" rIns="0" bIns="0" rtlCol="0" anchor="t"/>
          <a:lstStyle/>
          <a:p>
            <a:pPr marL="0" indent="0" algn="l">
              <a:lnSpc>
                <a:spcPts val="2650"/>
              </a:lnSpc>
              <a:buNone/>
            </a:pPr>
            <a:r>
              <a:rPr lang="en-US" sz="2100" b="1" dirty="0">
                <a:solidFill>
                  <a:srgbClr val="FFFFFF"/>
                </a:solidFill>
                <a:latin typeface="Montserrat Bold" pitchFamily="34" charset="0"/>
                <a:ea typeface="Montserrat Bold" pitchFamily="34" charset="-122"/>
                <a:cs typeface="Montserrat Bold" pitchFamily="34" charset="-120"/>
              </a:rPr>
              <a:t>Examples of features:</a:t>
            </a:r>
            <a:endParaRPr lang="en-US" sz="2100" dirty="0"/>
          </a:p>
        </p:txBody>
      </p:sp>
      <p:sp>
        <p:nvSpPr>
          <p:cNvPr id="13" name="Text 11"/>
          <p:cNvSpPr/>
          <p:nvPr/>
        </p:nvSpPr>
        <p:spPr>
          <a:xfrm>
            <a:off x="863798" y="5336977"/>
            <a:ext cx="12902803" cy="1553885"/>
          </a:xfrm>
          <a:prstGeom prst="rect">
            <a:avLst/>
          </a:prstGeom>
          <a:noFill/>
          <a:ln/>
        </p:spPr>
        <p:txBody>
          <a:bodyPr wrap="square" lIns="0" tIns="0" rIns="0" bIns="0" rtlCol="0" anchor="t"/>
          <a:lstStyle/>
          <a:p>
            <a:pPr marL="342900" indent="-342900" algn="l">
              <a:lnSpc>
                <a:spcPts val="2050"/>
              </a:lnSpc>
              <a:buSzPct val="100000"/>
              <a:buChar char="•"/>
            </a:pPr>
            <a:r>
              <a:rPr lang="en-US" sz="1550" dirty="0">
                <a:solidFill>
                  <a:srgbClr val="E2E6E9"/>
                </a:solidFill>
                <a:latin typeface="Source Sans 3" pitchFamily="34" charset="0"/>
                <a:ea typeface="Source Sans 3" pitchFamily="34" charset="-122"/>
                <a:cs typeface="Source Sans 3" pitchFamily="34" charset="-120"/>
              </a:rPr>
              <a:t>Transaction amount</a:t>
            </a:r>
            <a:endParaRPr lang="en-US" sz="1550" dirty="0"/>
          </a:p>
          <a:p>
            <a:pPr marL="342900" indent="-342900" algn="l">
              <a:lnSpc>
                <a:spcPts val="2050"/>
              </a:lnSpc>
              <a:buSzPct val="100000"/>
              <a:buChar char="•"/>
            </a:pPr>
            <a:r>
              <a:rPr lang="en-US" sz="1550" dirty="0">
                <a:solidFill>
                  <a:srgbClr val="E2E6E9"/>
                </a:solidFill>
                <a:latin typeface="Source Sans 3" pitchFamily="34" charset="0"/>
                <a:ea typeface="Source Sans 3" pitchFamily="34" charset="-122"/>
                <a:cs typeface="Source Sans 3" pitchFamily="34" charset="-120"/>
              </a:rPr>
              <a:t>Card information</a:t>
            </a:r>
            <a:endParaRPr lang="en-US" sz="1550" dirty="0"/>
          </a:p>
          <a:p>
            <a:pPr marL="342900" indent="-342900" algn="l">
              <a:lnSpc>
                <a:spcPts val="2050"/>
              </a:lnSpc>
              <a:buSzPct val="100000"/>
              <a:buChar char="•"/>
            </a:pPr>
            <a:r>
              <a:rPr lang="en-US" sz="1550" dirty="0">
                <a:solidFill>
                  <a:srgbClr val="E2E6E9"/>
                </a:solidFill>
                <a:latin typeface="Source Sans 3" pitchFamily="34" charset="0"/>
                <a:ea typeface="Source Sans 3" pitchFamily="34" charset="-122"/>
                <a:cs typeface="Source Sans 3" pitchFamily="34" charset="-120"/>
              </a:rPr>
              <a:t>Email domain</a:t>
            </a:r>
            <a:endParaRPr lang="en-US" sz="1550" dirty="0"/>
          </a:p>
          <a:p>
            <a:pPr marL="342900" indent="-342900" algn="l">
              <a:lnSpc>
                <a:spcPts val="2050"/>
              </a:lnSpc>
              <a:buSzPct val="100000"/>
              <a:buChar char="•"/>
            </a:pPr>
            <a:r>
              <a:rPr lang="en-US" sz="1550" dirty="0">
                <a:solidFill>
                  <a:srgbClr val="E2E6E9"/>
                </a:solidFill>
                <a:latin typeface="Source Sans 3" pitchFamily="34" charset="0"/>
                <a:ea typeface="Source Sans 3" pitchFamily="34" charset="-122"/>
                <a:cs typeface="Source Sans 3" pitchFamily="34" charset="-120"/>
              </a:rPr>
              <a:t>Device and browser data</a:t>
            </a:r>
            <a:endParaRPr lang="en-US" sz="1550" dirty="0"/>
          </a:p>
          <a:p>
            <a:pPr marL="342900" indent="-342900" algn="l">
              <a:lnSpc>
                <a:spcPts val="2050"/>
              </a:lnSpc>
              <a:buSzPct val="100000"/>
              <a:buChar char="•"/>
            </a:pPr>
            <a:r>
              <a:rPr lang="en-US" sz="1550" dirty="0">
                <a:solidFill>
                  <a:srgbClr val="E2E6E9"/>
                </a:solidFill>
                <a:latin typeface="Source Sans 3" pitchFamily="34" charset="0"/>
                <a:ea typeface="Source Sans 3" pitchFamily="34" charset="-122"/>
                <a:cs typeface="Source Sans 3" pitchFamily="34" charset="-120"/>
              </a:rPr>
              <a:t>Identity-related metadata</a:t>
            </a:r>
            <a:endParaRPr lang="en-US" sz="1550" dirty="0"/>
          </a:p>
        </p:txBody>
      </p:sp>
      <p:sp>
        <p:nvSpPr>
          <p:cNvPr id="14" name="Text 12"/>
          <p:cNvSpPr/>
          <p:nvPr/>
        </p:nvSpPr>
        <p:spPr>
          <a:xfrm>
            <a:off x="863798" y="7068503"/>
            <a:ext cx="12902803" cy="266581"/>
          </a:xfrm>
          <a:prstGeom prst="rect">
            <a:avLst/>
          </a:prstGeom>
          <a:noFill/>
          <a:ln/>
        </p:spPr>
        <p:txBody>
          <a:bodyPr wrap="none" lIns="0" tIns="0" rIns="0" bIns="0" rtlCol="0" anchor="t"/>
          <a:lstStyle/>
          <a:p>
            <a:pPr marL="0" indent="0" algn="l">
              <a:lnSpc>
                <a:spcPts val="2050"/>
              </a:lnSpc>
              <a:buNone/>
            </a:pPr>
            <a:r>
              <a:rPr lang="en-US" sz="1550" b="1" dirty="0">
                <a:solidFill>
                  <a:srgbClr val="E2E6E9"/>
                </a:solidFill>
                <a:latin typeface="Source Sans 3" pitchFamily="34" charset="0"/>
                <a:ea typeface="Source Sans 3" pitchFamily="34" charset="-122"/>
                <a:cs typeface="Source Sans 3" pitchFamily="34" charset="-120"/>
              </a:rPr>
              <a:t>This is not a simple dataset. It is large, complex, and very realistic.</a:t>
            </a:r>
            <a:endParaRPr lang="en-US" sz="1550" dirty="0"/>
          </a:p>
        </p:txBody>
      </p:sp>
      <p:pic>
        <p:nvPicPr>
          <p:cNvPr id="16" name="Picture 15">
            <a:extLst>
              <a:ext uri="{FF2B5EF4-FFF2-40B4-BE49-F238E27FC236}">
                <a16:creationId xmlns:a16="http://schemas.microsoft.com/office/drawing/2014/main" id="{EE16A40A-74DA-4786-B86B-45C6FD345187}"/>
              </a:ext>
            </a:extLst>
          </p:cNvPr>
          <p:cNvPicPr>
            <a:picLocks noChangeAspect="1"/>
          </p:cNvPicPr>
          <p:nvPr/>
        </p:nvPicPr>
        <p:blipFill>
          <a:blip r:embed="rId3"/>
          <a:stretch>
            <a:fillRect/>
          </a:stretch>
        </p:blipFill>
        <p:spPr>
          <a:xfrm>
            <a:off x="10813854" y="7258000"/>
            <a:ext cx="3816546" cy="97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3798" y="708065"/>
            <a:ext cx="6065758" cy="455771"/>
          </a:xfrm>
          <a:prstGeom prst="rect">
            <a:avLst/>
          </a:prstGeom>
          <a:noFill/>
          <a:ln/>
        </p:spPr>
        <p:txBody>
          <a:bodyPr wrap="none" lIns="0" tIns="0" rIns="0" bIns="0" rtlCol="0" anchor="t"/>
          <a:lstStyle/>
          <a:p>
            <a:pPr marL="0" indent="0" algn="l">
              <a:lnSpc>
                <a:spcPts val="3550"/>
              </a:lnSpc>
              <a:buNone/>
            </a:pPr>
            <a:r>
              <a:rPr lang="en-US" sz="2850" b="1" dirty="0">
                <a:solidFill>
                  <a:srgbClr val="FFFFFF"/>
                </a:solidFill>
                <a:latin typeface="Montserrat Bold" pitchFamily="34" charset="0"/>
                <a:ea typeface="Montserrat Bold" pitchFamily="34" charset="-122"/>
                <a:cs typeface="Montserrat Bold" pitchFamily="34" charset="-120"/>
              </a:rPr>
              <a:t>Exploratory Data Analysis (EDA)</a:t>
            </a:r>
            <a:endParaRPr lang="en-US" sz="2850" dirty="0"/>
          </a:p>
        </p:txBody>
      </p:sp>
      <p:sp>
        <p:nvSpPr>
          <p:cNvPr id="3" name="Text 1"/>
          <p:cNvSpPr/>
          <p:nvPr/>
        </p:nvSpPr>
        <p:spPr>
          <a:xfrm>
            <a:off x="863798" y="1205508"/>
            <a:ext cx="5827038" cy="364569"/>
          </a:xfrm>
          <a:prstGeom prst="rect">
            <a:avLst/>
          </a:prstGeom>
          <a:noFill/>
          <a:ln/>
        </p:spPr>
        <p:txBody>
          <a:bodyPr wrap="none" lIns="0" tIns="0" rIns="0" bIns="0" rtlCol="0" anchor="t"/>
          <a:lstStyle/>
          <a:p>
            <a:pPr marL="0" indent="0" algn="l">
              <a:lnSpc>
                <a:spcPts val="2850"/>
              </a:lnSpc>
              <a:buNone/>
            </a:pPr>
            <a:r>
              <a:rPr lang="en-US" sz="2250" b="1" dirty="0">
                <a:solidFill>
                  <a:srgbClr val="FFFFFF"/>
                </a:solidFill>
                <a:latin typeface="Montserrat Bold" pitchFamily="34" charset="0"/>
                <a:ea typeface="Montserrat Bold" pitchFamily="34" charset="-122"/>
                <a:cs typeface="Montserrat Bold" pitchFamily="34" charset="-120"/>
              </a:rPr>
              <a:t>One major challenge: Class Imbalance</a:t>
            </a:r>
            <a:endParaRPr lang="en-US" sz="2250" dirty="0"/>
          </a:p>
        </p:txBody>
      </p:sp>
      <p:sp>
        <p:nvSpPr>
          <p:cNvPr id="4" name="Text 2"/>
          <p:cNvSpPr/>
          <p:nvPr/>
        </p:nvSpPr>
        <p:spPr>
          <a:xfrm>
            <a:off x="3004899" y="2886432"/>
            <a:ext cx="1973342" cy="401003"/>
          </a:xfrm>
          <a:prstGeom prst="rect">
            <a:avLst/>
          </a:prstGeom>
          <a:noFill/>
          <a:ln/>
        </p:spPr>
        <p:txBody>
          <a:bodyPr wrap="none" lIns="0" tIns="0" rIns="0" bIns="0" rtlCol="0" anchor="t"/>
          <a:lstStyle/>
          <a:p>
            <a:pPr marL="0" indent="0" algn="ctr">
              <a:lnSpc>
                <a:spcPts val="3150"/>
              </a:lnSpc>
              <a:buNone/>
            </a:pPr>
            <a:r>
              <a:rPr lang="en-US" sz="3150" b="1" dirty="0">
                <a:solidFill>
                  <a:srgbClr val="E2E6E9"/>
                </a:solidFill>
                <a:latin typeface="Montserrat Bold" pitchFamily="34" charset="0"/>
                <a:ea typeface="Montserrat Bold" pitchFamily="34" charset="-122"/>
                <a:cs typeface="Montserrat Bold" pitchFamily="34" charset="-120"/>
              </a:rPr>
              <a:t>96.5%</a:t>
            </a:r>
            <a:endParaRPr lang="en-US" sz="3150" dirty="0"/>
          </a:p>
        </p:txBody>
      </p:sp>
      <p:pic>
        <p:nvPicPr>
          <p:cNvPr id="5" name="Image 0" descr="preencoded.png"/>
          <p:cNvPicPr>
            <a:picLocks noChangeAspect="1"/>
          </p:cNvPicPr>
          <p:nvPr/>
        </p:nvPicPr>
        <p:blipFill>
          <a:blip r:embed="rId3"/>
          <a:stretch>
            <a:fillRect/>
          </a:stretch>
        </p:blipFill>
        <p:spPr>
          <a:xfrm>
            <a:off x="2788325" y="1883688"/>
            <a:ext cx="2406610" cy="2406610"/>
          </a:xfrm>
          <a:prstGeom prst="rect">
            <a:avLst/>
          </a:prstGeom>
        </p:spPr>
      </p:pic>
      <p:sp>
        <p:nvSpPr>
          <p:cNvPr id="6" name="Text 3"/>
          <p:cNvSpPr/>
          <p:nvPr/>
        </p:nvSpPr>
        <p:spPr>
          <a:xfrm>
            <a:off x="863798" y="4434483"/>
            <a:ext cx="6255782" cy="198596"/>
          </a:xfrm>
          <a:prstGeom prst="rect">
            <a:avLst/>
          </a:prstGeom>
          <a:noFill/>
          <a:ln/>
        </p:spPr>
        <p:txBody>
          <a:bodyPr wrap="none" lIns="0" tIns="0" rIns="0" bIns="0" rtlCol="0" anchor="t"/>
          <a:lstStyle/>
          <a:p>
            <a:pPr marL="0" indent="0" algn="ctr">
              <a:lnSpc>
                <a:spcPts val="1550"/>
              </a:lnSpc>
              <a:buNone/>
            </a:pPr>
            <a:r>
              <a:rPr lang="en-US" sz="1250" dirty="0">
                <a:solidFill>
                  <a:srgbClr val="E2E6E9"/>
                </a:solidFill>
                <a:latin typeface="Source Sans 3" pitchFamily="34" charset="0"/>
                <a:ea typeface="Source Sans 3" pitchFamily="34" charset="-122"/>
                <a:cs typeface="Source Sans 3" pitchFamily="34" charset="-120"/>
              </a:rPr>
              <a:t>transactions are normal</a:t>
            </a:r>
            <a:endParaRPr lang="en-US" sz="1250" dirty="0"/>
          </a:p>
        </p:txBody>
      </p:sp>
      <p:sp>
        <p:nvSpPr>
          <p:cNvPr id="7" name="Text 4"/>
          <p:cNvSpPr/>
          <p:nvPr/>
        </p:nvSpPr>
        <p:spPr>
          <a:xfrm>
            <a:off x="9659541" y="2886432"/>
            <a:ext cx="1973342" cy="401003"/>
          </a:xfrm>
          <a:prstGeom prst="rect">
            <a:avLst/>
          </a:prstGeom>
          <a:noFill/>
          <a:ln/>
        </p:spPr>
        <p:txBody>
          <a:bodyPr wrap="none" lIns="0" tIns="0" rIns="0" bIns="0" rtlCol="0" anchor="t"/>
          <a:lstStyle/>
          <a:p>
            <a:pPr marL="0" indent="0" algn="ctr">
              <a:lnSpc>
                <a:spcPts val="3150"/>
              </a:lnSpc>
              <a:buNone/>
            </a:pPr>
            <a:r>
              <a:rPr lang="en-US" sz="3150" b="1" dirty="0">
                <a:solidFill>
                  <a:srgbClr val="E2E6E9"/>
                </a:solidFill>
                <a:latin typeface="Montserrat Bold" pitchFamily="34" charset="0"/>
                <a:ea typeface="Montserrat Bold" pitchFamily="34" charset="-122"/>
                <a:cs typeface="Montserrat Bold" pitchFamily="34" charset="-120"/>
              </a:rPr>
              <a:t>3.5%</a:t>
            </a:r>
            <a:endParaRPr lang="en-US" sz="3150" dirty="0"/>
          </a:p>
        </p:txBody>
      </p:sp>
      <p:pic>
        <p:nvPicPr>
          <p:cNvPr id="8" name="Image 1" descr="preencoded.png"/>
          <p:cNvPicPr>
            <a:picLocks noChangeAspect="1"/>
          </p:cNvPicPr>
          <p:nvPr/>
        </p:nvPicPr>
        <p:blipFill>
          <a:blip r:embed="rId4"/>
          <a:stretch>
            <a:fillRect/>
          </a:stretch>
        </p:blipFill>
        <p:spPr>
          <a:xfrm>
            <a:off x="9442966" y="1883688"/>
            <a:ext cx="2406610" cy="2406610"/>
          </a:xfrm>
          <a:prstGeom prst="rect">
            <a:avLst/>
          </a:prstGeom>
        </p:spPr>
      </p:pic>
      <p:sp>
        <p:nvSpPr>
          <p:cNvPr id="9" name="Text 5"/>
          <p:cNvSpPr/>
          <p:nvPr/>
        </p:nvSpPr>
        <p:spPr>
          <a:xfrm>
            <a:off x="7518440" y="4434483"/>
            <a:ext cx="6255782" cy="198596"/>
          </a:xfrm>
          <a:prstGeom prst="rect">
            <a:avLst/>
          </a:prstGeom>
          <a:noFill/>
          <a:ln/>
        </p:spPr>
        <p:txBody>
          <a:bodyPr wrap="none" lIns="0" tIns="0" rIns="0" bIns="0" rtlCol="0" anchor="t"/>
          <a:lstStyle/>
          <a:p>
            <a:pPr marL="0" indent="0" algn="ctr">
              <a:lnSpc>
                <a:spcPts val="1550"/>
              </a:lnSpc>
              <a:buNone/>
            </a:pPr>
            <a:r>
              <a:rPr lang="en-US" sz="1250" dirty="0">
                <a:solidFill>
                  <a:srgbClr val="E2E6E9"/>
                </a:solidFill>
                <a:latin typeface="Source Sans 3" pitchFamily="34" charset="0"/>
                <a:ea typeface="Source Sans 3" pitchFamily="34" charset="-122"/>
                <a:cs typeface="Source Sans 3" pitchFamily="34" charset="-120"/>
              </a:rPr>
              <a:t>are fraud</a:t>
            </a:r>
            <a:endParaRPr lang="en-US" sz="1250" dirty="0"/>
          </a:p>
        </p:txBody>
      </p:sp>
      <p:sp>
        <p:nvSpPr>
          <p:cNvPr id="10" name="Text 6"/>
          <p:cNvSpPr/>
          <p:nvPr/>
        </p:nvSpPr>
        <p:spPr>
          <a:xfrm>
            <a:off x="863798" y="4867632"/>
            <a:ext cx="12902803" cy="198596"/>
          </a:xfrm>
          <a:prstGeom prst="rect">
            <a:avLst/>
          </a:prstGeom>
          <a:noFill/>
          <a:ln/>
        </p:spPr>
        <p:txBody>
          <a:bodyPr wrap="none" lIns="0" tIns="0" rIns="0" bIns="0" rtlCol="0" anchor="t"/>
          <a:lstStyle/>
          <a:p>
            <a:pPr marL="0" indent="0" algn="l">
              <a:lnSpc>
                <a:spcPts val="1550"/>
              </a:lnSpc>
              <a:buNone/>
            </a:pPr>
            <a:r>
              <a:rPr lang="en-US" sz="1250" dirty="0">
                <a:solidFill>
                  <a:srgbClr val="E2E6E9"/>
                </a:solidFill>
                <a:latin typeface="Source Sans 3" pitchFamily="34" charset="0"/>
                <a:ea typeface="Source Sans 3" pitchFamily="34" charset="-122"/>
                <a:cs typeface="Source Sans 3" pitchFamily="34" charset="-120"/>
              </a:rPr>
              <a:t>That means the model can easily ignore fraud if we are not careful.</a:t>
            </a:r>
            <a:endParaRPr lang="en-US" sz="1250" dirty="0"/>
          </a:p>
        </p:txBody>
      </p:sp>
      <p:sp>
        <p:nvSpPr>
          <p:cNvPr id="11" name="Text 7"/>
          <p:cNvSpPr/>
          <p:nvPr/>
        </p:nvSpPr>
        <p:spPr>
          <a:xfrm>
            <a:off x="863798" y="5222558"/>
            <a:ext cx="8647867" cy="364569"/>
          </a:xfrm>
          <a:prstGeom prst="rect">
            <a:avLst/>
          </a:prstGeom>
          <a:noFill/>
          <a:ln/>
        </p:spPr>
        <p:txBody>
          <a:bodyPr wrap="none" lIns="0" tIns="0" rIns="0" bIns="0" rtlCol="0" anchor="t"/>
          <a:lstStyle/>
          <a:p>
            <a:pPr marL="0" indent="0" algn="l">
              <a:lnSpc>
                <a:spcPts val="2850"/>
              </a:lnSpc>
              <a:buNone/>
            </a:pPr>
            <a:r>
              <a:rPr lang="en-US" sz="2250" b="1" dirty="0">
                <a:solidFill>
                  <a:srgbClr val="FFFFFF"/>
                </a:solidFill>
                <a:latin typeface="Montserrat Bold" pitchFamily="34" charset="0"/>
                <a:ea typeface="Montserrat Bold" pitchFamily="34" charset="-122"/>
                <a:cs typeface="Montserrat Bold" pitchFamily="34" charset="-120"/>
              </a:rPr>
              <a:t>Another big challenge: There were many missing values.</a:t>
            </a:r>
            <a:endParaRPr lang="en-US" sz="2250" dirty="0"/>
          </a:p>
        </p:txBody>
      </p:sp>
      <p:sp>
        <p:nvSpPr>
          <p:cNvPr id="12" name="Text 8"/>
          <p:cNvSpPr/>
          <p:nvPr/>
        </p:nvSpPr>
        <p:spPr>
          <a:xfrm>
            <a:off x="863798" y="5743456"/>
            <a:ext cx="12902803" cy="198596"/>
          </a:xfrm>
          <a:prstGeom prst="rect">
            <a:avLst/>
          </a:prstGeom>
          <a:noFill/>
          <a:ln/>
        </p:spPr>
        <p:txBody>
          <a:bodyPr wrap="none" lIns="0" tIns="0" rIns="0" bIns="0" rtlCol="0" anchor="t"/>
          <a:lstStyle/>
          <a:p>
            <a:pPr marL="0" indent="0" algn="l">
              <a:lnSpc>
                <a:spcPts val="1550"/>
              </a:lnSpc>
              <a:buNone/>
            </a:pPr>
            <a:r>
              <a:rPr lang="en-US" sz="1250" dirty="0">
                <a:solidFill>
                  <a:srgbClr val="E2E6E9"/>
                </a:solidFill>
                <a:latin typeface="Source Sans 3" pitchFamily="34" charset="0"/>
                <a:ea typeface="Source Sans 3" pitchFamily="34" charset="-122"/>
                <a:cs typeface="Source Sans 3" pitchFamily="34" charset="-120"/>
              </a:rPr>
              <a:t>But we did NOT remove them.</a:t>
            </a:r>
            <a:endParaRPr lang="en-US" sz="1250" dirty="0"/>
          </a:p>
        </p:txBody>
      </p:sp>
      <p:sp>
        <p:nvSpPr>
          <p:cNvPr id="13" name="Text 9"/>
          <p:cNvSpPr/>
          <p:nvPr/>
        </p:nvSpPr>
        <p:spPr>
          <a:xfrm>
            <a:off x="863798" y="6059329"/>
            <a:ext cx="12902803" cy="198596"/>
          </a:xfrm>
          <a:prstGeom prst="rect">
            <a:avLst/>
          </a:prstGeom>
          <a:noFill/>
          <a:ln/>
        </p:spPr>
        <p:txBody>
          <a:bodyPr wrap="none" lIns="0" tIns="0" rIns="0" bIns="0" rtlCol="0" anchor="t"/>
          <a:lstStyle/>
          <a:p>
            <a:pPr marL="0" indent="0" algn="l">
              <a:lnSpc>
                <a:spcPts val="1550"/>
              </a:lnSpc>
              <a:buNone/>
            </a:pPr>
            <a:r>
              <a:rPr lang="en-US" sz="1250" dirty="0">
                <a:solidFill>
                  <a:srgbClr val="E2E6E9"/>
                </a:solidFill>
                <a:latin typeface="Source Sans 3" pitchFamily="34" charset="0"/>
                <a:ea typeface="Source Sans 3" pitchFamily="34" charset="-122"/>
                <a:cs typeface="Source Sans 3" pitchFamily="34" charset="-120"/>
              </a:rPr>
              <a:t>Because in fraud detection:</a:t>
            </a:r>
            <a:endParaRPr lang="en-US" sz="1250" dirty="0"/>
          </a:p>
        </p:txBody>
      </p:sp>
      <p:sp>
        <p:nvSpPr>
          <p:cNvPr id="14" name="Text 10"/>
          <p:cNvSpPr/>
          <p:nvPr/>
        </p:nvSpPr>
        <p:spPr>
          <a:xfrm>
            <a:off x="863798" y="6375202"/>
            <a:ext cx="12902803" cy="198596"/>
          </a:xfrm>
          <a:prstGeom prst="rect">
            <a:avLst/>
          </a:prstGeom>
          <a:noFill/>
          <a:ln/>
        </p:spPr>
        <p:txBody>
          <a:bodyPr wrap="none" lIns="0" tIns="0" rIns="0" bIns="0" rtlCol="0" anchor="t"/>
          <a:lstStyle/>
          <a:p>
            <a:pPr marL="0" indent="0" algn="l">
              <a:lnSpc>
                <a:spcPts val="1550"/>
              </a:lnSpc>
              <a:buNone/>
            </a:pPr>
            <a:r>
              <a:rPr lang="en-US" sz="1250" dirty="0">
                <a:solidFill>
                  <a:srgbClr val="000000"/>
                </a:solidFill>
                <a:latin typeface="Source Sans 3" pitchFamily="34" charset="0"/>
                <a:ea typeface="Source Sans 3" pitchFamily="34" charset="-122"/>
                <a:cs typeface="Source Sans 3" pitchFamily="34" charset="-120"/>
              </a:rPr>
              <a:t>👉</a:t>
            </a:r>
            <a:r>
              <a:rPr lang="en-US" sz="1250" dirty="0">
                <a:solidFill>
                  <a:srgbClr val="E2E6E9"/>
                </a:solidFill>
                <a:latin typeface="Source Sans 3" pitchFamily="34" charset="0"/>
                <a:ea typeface="Source Sans 3" pitchFamily="34" charset="-122"/>
                <a:cs typeface="Source Sans 3" pitchFamily="34" charset="-120"/>
              </a:rPr>
              <a:t> Missing information can itself be suspicious.</a:t>
            </a:r>
            <a:endParaRPr lang="en-US" sz="1250" dirty="0"/>
          </a:p>
        </p:txBody>
      </p:sp>
      <p:sp>
        <p:nvSpPr>
          <p:cNvPr id="15" name="Text 11"/>
          <p:cNvSpPr/>
          <p:nvPr/>
        </p:nvSpPr>
        <p:spPr>
          <a:xfrm>
            <a:off x="863798" y="6691074"/>
            <a:ext cx="12902803" cy="198596"/>
          </a:xfrm>
          <a:prstGeom prst="rect">
            <a:avLst/>
          </a:prstGeom>
          <a:noFill/>
          <a:ln/>
        </p:spPr>
        <p:txBody>
          <a:bodyPr wrap="none" lIns="0" tIns="0" rIns="0" bIns="0" rtlCol="0" anchor="t"/>
          <a:lstStyle/>
          <a:p>
            <a:pPr marL="0" indent="0" algn="l">
              <a:lnSpc>
                <a:spcPts val="1550"/>
              </a:lnSpc>
              <a:buNone/>
            </a:pPr>
            <a:r>
              <a:rPr lang="en-US" sz="1250" dirty="0">
                <a:solidFill>
                  <a:srgbClr val="E2E6E9"/>
                </a:solidFill>
                <a:latin typeface="Source Sans 3" pitchFamily="34" charset="0"/>
                <a:ea typeface="Source Sans 3" pitchFamily="34" charset="-122"/>
                <a:cs typeface="Source Sans 3" pitchFamily="34" charset="-120"/>
              </a:rPr>
              <a:t>Sometimes fraudsters hide device details or identity intentionally.</a:t>
            </a:r>
            <a:endParaRPr lang="en-US" sz="1250" dirty="0"/>
          </a:p>
        </p:txBody>
      </p:sp>
      <p:sp>
        <p:nvSpPr>
          <p:cNvPr id="16" name="Text 12"/>
          <p:cNvSpPr/>
          <p:nvPr/>
        </p:nvSpPr>
        <p:spPr>
          <a:xfrm>
            <a:off x="863798" y="7006947"/>
            <a:ext cx="12902803" cy="198596"/>
          </a:xfrm>
          <a:prstGeom prst="rect">
            <a:avLst/>
          </a:prstGeom>
          <a:noFill/>
          <a:ln/>
        </p:spPr>
        <p:txBody>
          <a:bodyPr wrap="none" lIns="0" tIns="0" rIns="0" bIns="0" rtlCol="0" anchor="t"/>
          <a:lstStyle/>
          <a:p>
            <a:pPr marL="0" indent="0" algn="l">
              <a:lnSpc>
                <a:spcPts val="1550"/>
              </a:lnSpc>
              <a:buNone/>
            </a:pPr>
            <a:r>
              <a:rPr lang="en-US" sz="1250" dirty="0">
                <a:solidFill>
                  <a:srgbClr val="E2E6E9"/>
                </a:solidFill>
                <a:latin typeface="Source Sans 3" pitchFamily="34" charset="0"/>
                <a:ea typeface="Source Sans 3" pitchFamily="34" charset="-122"/>
                <a:cs typeface="Source Sans 3" pitchFamily="34" charset="-120"/>
              </a:rPr>
              <a:t>So instead of deleting missing data, we engineered features around it.</a:t>
            </a:r>
            <a:endParaRPr lang="en-US" sz="1250" dirty="0"/>
          </a:p>
        </p:txBody>
      </p:sp>
      <p:sp>
        <p:nvSpPr>
          <p:cNvPr id="17" name="Text 13"/>
          <p:cNvSpPr/>
          <p:nvPr/>
        </p:nvSpPr>
        <p:spPr>
          <a:xfrm>
            <a:off x="863798" y="7322820"/>
            <a:ext cx="12902803" cy="198596"/>
          </a:xfrm>
          <a:prstGeom prst="rect">
            <a:avLst/>
          </a:prstGeom>
          <a:noFill/>
          <a:ln/>
        </p:spPr>
        <p:txBody>
          <a:bodyPr wrap="none" lIns="0" tIns="0" rIns="0" bIns="0" rtlCol="0" anchor="t"/>
          <a:lstStyle/>
          <a:p>
            <a:pPr marL="0" indent="0" algn="l">
              <a:lnSpc>
                <a:spcPts val="1550"/>
              </a:lnSpc>
              <a:buNone/>
            </a:pPr>
            <a:r>
              <a:rPr lang="en-US" sz="1250" b="1" dirty="0">
                <a:solidFill>
                  <a:srgbClr val="E2E6E9"/>
                </a:solidFill>
                <a:latin typeface="Source Sans 3" pitchFamily="34" charset="0"/>
                <a:ea typeface="Source Sans 3" pitchFamily="34" charset="-122"/>
                <a:cs typeface="Source Sans 3" pitchFamily="34" charset="-120"/>
              </a:rPr>
              <a:t>Fraud detection is difficult because fraud patterns are rare and constantly changing.</a:t>
            </a:r>
            <a:endParaRPr lang="en-US" sz="1250" dirty="0"/>
          </a:p>
        </p:txBody>
      </p:sp>
      <p:pic>
        <p:nvPicPr>
          <p:cNvPr id="19" name="Picture 18">
            <a:extLst>
              <a:ext uri="{FF2B5EF4-FFF2-40B4-BE49-F238E27FC236}">
                <a16:creationId xmlns:a16="http://schemas.microsoft.com/office/drawing/2014/main" id="{1DC5AF94-4EA5-426A-A280-BF40D6EFD98E}"/>
              </a:ext>
            </a:extLst>
          </p:cNvPr>
          <p:cNvPicPr>
            <a:picLocks noChangeAspect="1"/>
          </p:cNvPicPr>
          <p:nvPr/>
        </p:nvPicPr>
        <p:blipFill>
          <a:blip r:embed="rId5"/>
          <a:stretch>
            <a:fillRect/>
          </a:stretch>
        </p:blipFill>
        <p:spPr>
          <a:xfrm>
            <a:off x="10813854" y="7258000"/>
            <a:ext cx="3816546" cy="97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3798" y="1089541"/>
            <a:ext cx="11467148" cy="701278"/>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Montserrat Bold" pitchFamily="34" charset="0"/>
                <a:ea typeface="Montserrat Bold" pitchFamily="34" charset="-122"/>
                <a:cs typeface="Montserrat Bold" pitchFamily="34" charset="-120"/>
              </a:rPr>
              <a:t>Feature Engineering: 7 Key Techniques</a:t>
            </a:r>
            <a:endParaRPr lang="en-US" sz="4400" dirty="0"/>
          </a:p>
        </p:txBody>
      </p:sp>
      <p:sp>
        <p:nvSpPr>
          <p:cNvPr id="3" name="Text 1"/>
          <p:cNvSpPr/>
          <p:nvPr/>
        </p:nvSpPr>
        <p:spPr>
          <a:xfrm>
            <a:off x="863798" y="2284452"/>
            <a:ext cx="12902803" cy="370165"/>
          </a:xfrm>
          <a:prstGeom prst="rect">
            <a:avLst/>
          </a:prstGeom>
          <a:noFill/>
          <a:ln/>
        </p:spPr>
        <p:txBody>
          <a:bodyPr wrap="none" lIns="0" tIns="0" rIns="0" bIns="0" rtlCol="0" anchor="t"/>
          <a:lstStyle/>
          <a:p>
            <a:pPr marL="0" indent="0" algn="l">
              <a:lnSpc>
                <a:spcPts val="2900"/>
              </a:lnSpc>
              <a:buNone/>
            </a:pPr>
            <a:r>
              <a:rPr lang="en-US" sz="1900" dirty="0">
                <a:solidFill>
                  <a:srgbClr val="E2E6E9"/>
                </a:solidFill>
                <a:latin typeface="Source Sans 3" pitchFamily="34" charset="0"/>
                <a:ea typeface="Source Sans 3" pitchFamily="34" charset="-122"/>
                <a:cs typeface="Source Sans 3" pitchFamily="34" charset="-120"/>
              </a:rPr>
              <a:t>Here are the 7 core feature engineering techniques that power our fraud detection model:</a:t>
            </a:r>
            <a:endParaRPr lang="en-US" sz="1900" dirty="0"/>
          </a:p>
        </p:txBody>
      </p:sp>
      <p:sp>
        <p:nvSpPr>
          <p:cNvPr id="4" name="Shape 2"/>
          <p:cNvSpPr/>
          <p:nvPr/>
        </p:nvSpPr>
        <p:spPr>
          <a:xfrm>
            <a:off x="863798" y="2932271"/>
            <a:ext cx="4136350" cy="905232"/>
          </a:xfrm>
          <a:prstGeom prst="roundRect">
            <a:avLst>
              <a:gd name="adj" fmla="val 4090"/>
            </a:avLst>
          </a:prstGeom>
          <a:solidFill>
            <a:srgbClr val="111213"/>
          </a:solidFill>
          <a:ln w="30480">
            <a:solidFill>
              <a:srgbClr val="494A4B"/>
            </a:solidFill>
            <a:prstDash val="solid"/>
          </a:ln>
        </p:spPr>
      </p:sp>
      <p:sp>
        <p:nvSpPr>
          <p:cNvPr id="5" name="Text 3"/>
          <p:cNvSpPr/>
          <p:nvPr/>
        </p:nvSpPr>
        <p:spPr>
          <a:xfrm>
            <a:off x="1141095" y="3209568"/>
            <a:ext cx="3346847" cy="350639"/>
          </a:xfrm>
          <a:prstGeom prst="rect">
            <a:avLst/>
          </a:prstGeom>
          <a:noFill/>
          <a:ln/>
        </p:spPr>
        <p:txBody>
          <a:bodyPr wrap="none" lIns="0" tIns="0" rIns="0" bIns="0" rtlCol="0" anchor="t"/>
          <a:lstStyle/>
          <a:p>
            <a:pPr marL="0" indent="0" algn="l">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Missing Value Strategy</a:t>
            </a:r>
            <a:endParaRPr lang="en-US" sz="2200" dirty="0"/>
          </a:p>
        </p:txBody>
      </p:sp>
      <p:sp>
        <p:nvSpPr>
          <p:cNvPr id="6" name="Shape 4"/>
          <p:cNvSpPr/>
          <p:nvPr/>
        </p:nvSpPr>
        <p:spPr>
          <a:xfrm>
            <a:off x="5246965" y="2932271"/>
            <a:ext cx="4136350" cy="905232"/>
          </a:xfrm>
          <a:prstGeom prst="roundRect">
            <a:avLst>
              <a:gd name="adj" fmla="val 4090"/>
            </a:avLst>
          </a:prstGeom>
          <a:solidFill>
            <a:srgbClr val="111213"/>
          </a:solidFill>
          <a:ln w="30480">
            <a:solidFill>
              <a:srgbClr val="494A4B"/>
            </a:solidFill>
            <a:prstDash val="solid"/>
          </a:ln>
        </p:spPr>
      </p:sp>
      <p:sp>
        <p:nvSpPr>
          <p:cNvPr id="7" name="Text 5"/>
          <p:cNvSpPr/>
          <p:nvPr/>
        </p:nvSpPr>
        <p:spPr>
          <a:xfrm>
            <a:off x="5524262" y="3209568"/>
            <a:ext cx="3107412" cy="350639"/>
          </a:xfrm>
          <a:prstGeom prst="rect">
            <a:avLst/>
          </a:prstGeom>
          <a:noFill/>
          <a:ln/>
        </p:spPr>
        <p:txBody>
          <a:bodyPr wrap="none" lIns="0" tIns="0" rIns="0" bIns="0" rtlCol="0" anchor="t"/>
          <a:lstStyle/>
          <a:p>
            <a:pPr marL="0" indent="0" algn="l">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Time-Based Features</a:t>
            </a:r>
            <a:endParaRPr lang="en-US" sz="2200" dirty="0"/>
          </a:p>
        </p:txBody>
      </p:sp>
      <p:sp>
        <p:nvSpPr>
          <p:cNvPr id="8" name="Shape 6"/>
          <p:cNvSpPr/>
          <p:nvPr/>
        </p:nvSpPr>
        <p:spPr>
          <a:xfrm>
            <a:off x="9630132" y="2932271"/>
            <a:ext cx="4136350" cy="905232"/>
          </a:xfrm>
          <a:prstGeom prst="roundRect">
            <a:avLst>
              <a:gd name="adj" fmla="val 4090"/>
            </a:avLst>
          </a:prstGeom>
          <a:solidFill>
            <a:srgbClr val="111213"/>
          </a:solidFill>
          <a:ln w="30480">
            <a:solidFill>
              <a:srgbClr val="494A4B"/>
            </a:solidFill>
            <a:prstDash val="solid"/>
          </a:ln>
        </p:spPr>
      </p:sp>
      <p:sp>
        <p:nvSpPr>
          <p:cNvPr id="9" name="Text 7"/>
          <p:cNvSpPr/>
          <p:nvPr/>
        </p:nvSpPr>
        <p:spPr>
          <a:xfrm>
            <a:off x="9907429" y="3209568"/>
            <a:ext cx="2971324" cy="350639"/>
          </a:xfrm>
          <a:prstGeom prst="rect">
            <a:avLst/>
          </a:prstGeom>
          <a:noFill/>
          <a:ln/>
        </p:spPr>
        <p:txBody>
          <a:bodyPr wrap="none" lIns="0" tIns="0" rIns="0" bIns="0" rtlCol="0" anchor="t"/>
          <a:lstStyle/>
          <a:p>
            <a:pPr marL="0" indent="0" algn="l">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Transaction Velocity</a:t>
            </a:r>
            <a:endParaRPr lang="en-US" sz="2200" dirty="0"/>
          </a:p>
        </p:txBody>
      </p:sp>
      <p:sp>
        <p:nvSpPr>
          <p:cNvPr id="10" name="Shape 8"/>
          <p:cNvSpPr/>
          <p:nvPr/>
        </p:nvSpPr>
        <p:spPr>
          <a:xfrm>
            <a:off x="863798" y="4084320"/>
            <a:ext cx="4136350" cy="1255871"/>
          </a:xfrm>
          <a:prstGeom prst="roundRect">
            <a:avLst>
              <a:gd name="adj" fmla="val 2948"/>
            </a:avLst>
          </a:prstGeom>
          <a:solidFill>
            <a:srgbClr val="111213"/>
          </a:solidFill>
          <a:ln w="30480">
            <a:solidFill>
              <a:srgbClr val="494A4B"/>
            </a:solidFill>
            <a:prstDash val="solid"/>
          </a:ln>
        </p:spPr>
      </p:sp>
      <p:sp>
        <p:nvSpPr>
          <p:cNvPr id="11" name="Text 9"/>
          <p:cNvSpPr/>
          <p:nvPr/>
        </p:nvSpPr>
        <p:spPr>
          <a:xfrm>
            <a:off x="1141095" y="4361617"/>
            <a:ext cx="3581757" cy="701278"/>
          </a:xfrm>
          <a:prstGeom prst="rect">
            <a:avLst/>
          </a:prstGeom>
          <a:noFill/>
          <a:ln/>
        </p:spPr>
        <p:txBody>
          <a:bodyPr wrap="square" lIns="0" tIns="0" rIns="0" bIns="0" rtlCol="0" anchor="t"/>
          <a:lstStyle/>
          <a:p>
            <a:pPr marL="0" indent="0" algn="l">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Spending Behavior &amp; User Profiles</a:t>
            </a:r>
            <a:endParaRPr lang="en-US" sz="2200" dirty="0"/>
          </a:p>
        </p:txBody>
      </p:sp>
      <p:sp>
        <p:nvSpPr>
          <p:cNvPr id="12" name="Shape 10"/>
          <p:cNvSpPr/>
          <p:nvPr/>
        </p:nvSpPr>
        <p:spPr>
          <a:xfrm>
            <a:off x="5246965" y="4084320"/>
            <a:ext cx="4136350" cy="1255871"/>
          </a:xfrm>
          <a:prstGeom prst="roundRect">
            <a:avLst>
              <a:gd name="adj" fmla="val 2948"/>
            </a:avLst>
          </a:prstGeom>
          <a:solidFill>
            <a:srgbClr val="111213"/>
          </a:solidFill>
          <a:ln w="30480">
            <a:solidFill>
              <a:srgbClr val="494A4B"/>
            </a:solidFill>
            <a:prstDash val="solid"/>
          </a:ln>
        </p:spPr>
      </p:sp>
      <p:sp>
        <p:nvSpPr>
          <p:cNvPr id="13" name="Text 11"/>
          <p:cNvSpPr/>
          <p:nvPr/>
        </p:nvSpPr>
        <p:spPr>
          <a:xfrm>
            <a:off x="5524262" y="4361617"/>
            <a:ext cx="3581757" cy="701278"/>
          </a:xfrm>
          <a:prstGeom prst="rect">
            <a:avLst/>
          </a:prstGeom>
          <a:noFill/>
          <a:ln/>
        </p:spPr>
        <p:txBody>
          <a:bodyPr wrap="square" lIns="0" tIns="0" rIns="0" bIns="0" rtlCol="0" anchor="t"/>
          <a:lstStyle/>
          <a:p>
            <a:pPr marL="0" indent="0" algn="l">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Composite User Profiles (UIDs)</a:t>
            </a:r>
            <a:endParaRPr lang="en-US" sz="2200" dirty="0"/>
          </a:p>
        </p:txBody>
      </p:sp>
      <p:sp>
        <p:nvSpPr>
          <p:cNvPr id="14" name="Shape 12"/>
          <p:cNvSpPr/>
          <p:nvPr/>
        </p:nvSpPr>
        <p:spPr>
          <a:xfrm>
            <a:off x="9630132" y="4084320"/>
            <a:ext cx="4136350" cy="1255871"/>
          </a:xfrm>
          <a:prstGeom prst="roundRect">
            <a:avLst>
              <a:gd name="adj" fmla="val 2948"/>
            </a:avLst>
          </a:prstGeom>
          <a:solidFill>
            <a:srgbClr val="111213"/>
          </a:solidFill>
          <a:ln w="30480">
            <a:solidFill>
              <a:srgbClr val="494A4B"/>
            </a:solidFill>
            <a:prstDash val="solid"/>
          </a:ln>
        </p:spPr>
      </p:sp>
      <p:sp>
        <p:nvSpPr>
          <p:cNvPr id="15" name="Text 13"/>
          <p:cNvSpPr/>
          <p:nvPr/>
        </p:nvSpPr>
        <p:spPr>
          <a:xfrm>
            <a:off x="9907429" y="4361617"/>
            <a:ext cx="3581757" cy="701278"/>
          </a:xfrm>
          <a:prstGeom prst="rect">
            <a:avLst/>
          </a:prstGeom>
          <a:noFill/>
          <a:ln/>
        </p:spPr>
        <p:txBody>
          <a:bodyPr wrap="square" lIns="0" tIns="0" rIns="0" bIns="0" rtlCol="0" anchor="t"/>
          <a:lstStyle/>
          <a:p>
            <a:pPr marL="0" indent="0" algn="l">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Device and Browser Strategy</a:t>
            </a:r>
            <a:endParaRPr lang="en-US" sz="2200" dirty="0"/>
          </a:p>
        </p:txBody>
      </p:sp>
      <p:sp>
        <p:nvSpPr>
          <p:cNvPr id="16" name="Shape 14"/>
          <p:cNvSpPr/>
          <p:nvPr/>
        </p:nvSpPr>
        <p:spPr>
          <a:xfrm>
            <a:off x="863798" y="5587008"/>
            <a:ext cx="12902684" cy="905232"/>
          </a:xfrm>
          <a:prstGeom prst="roundRect">
            <a:avLst>
              <a:gd name="adj" fmla="val 4090"/>
            </a:avLst>
          </a:prstGeom>
          <a:solidFill>
            <a:srgbClr val="111213"/>
          </a:solidFill>
          <a:ln w="30480">
            <a:solidFill>
              <a:srgbClr val="494A4B"/>
            </a:solidFill>
            <a:prstDash val="solid"/>
          </a:ln>
        </p:spPr>
      </p:sp>
      <p:sp>
        <p:nvSpPr>
          <p:cNvPr id="17" name="Text 15"/>
          <p:cNvSpPr/>
          <p:nvPr/>
        </p:nvSpPr>
        <p:spPr>
          <a:xfrm>
            <a:off x="1141095" y="5864304"/>
            <a:ext cx="4220766" cy="350639"/>
          </a:xfrm>
          <a:prstGeom prst="rect">
            <a:avLst/>
          </a:prstGeom>
          <a:noFill/>
          <a:ln/>
        </p:spPr>
        <p:txBody>
          <a:bodyPr wrap="none" lIns="0" tIns="0" rIns="0" bIns="0" rtlCol="0" anchor="t"/>
          <a:lstStyle/>
          <a:p>
            <a:pPr marL="0" indent="0" algn="l">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Hybrid Categorical Encoding</a:t>
            </a:r>
            <a:endParaRPr lang="en-US" sz="2200" dirty="0"/>
          </a:p>
        </p:txBody>
      </p:sp>
      <p:sp>
        <p:nvSpPr>
          <p:cNvPr id="18" name="Text 16"/>
          <p:cNvSpPr/>
          <p:nvPr/>
        </p:nvSpPr>
        <p:spPr>
          <a:xfrm>
            <a:off x="863798" y="6769894"/>
            <a:ext cx="12902803" cy="370165"/>
          </a:xfrm>
          <a:prstGeom prst="rect">
            <a:avLst/>
          </a:prstGeom>
          <a:noFill/>
          <a:ln/>
        </p:spPr>
        <p:txBody>
          <a:bodyPr wrap="none" lIns="0" tIns="0" rIns="0" bIns="0" rtlCol="0" anchor="t"/>
          <a:lstStyle/>
          <a:p>
            <a:pPr marL="0" indent="0" algn="l">
              <a:lnSpc>
                <a:spcPts val="2900"/>
              </a:lnSpc>
              <a:buNone/>
            </a:pPr>
            <a:r>
              <a:rPr lang="en-US" sz="1900" dirty="0">
                <a:solidFill>
                  <a:srgbClr val="E2E6E9"/>
                </a:solidFill>
                <a:latin typeface="Source Sans 3" pitchFamily="34" charset="0"/>
                <a:ea typeface="Source Sans 3" pitchFamily="34" charset="-122"/>
                <a:cs typeface="Source Sans 3" pitchFamily="34" charset="-120"/>
              </a:rPr>
              <a:t>Each technique is detailed on the following slides.</a:t>
            </a:r>
            <a:endParaRPr lang="en-US" sz="1900" dirty="0"/>
          </a:p>
        </p:txBody>
      </p:sp>
      <p:pic>
        <p:nvPicPr>
          <p:cNvPr id="20" name="Picture 19">
            <a:extLst>
              <a:ext uri="{FF2B5EF4-FFF2-40B4-BE49-F238E27FC236}">
                <a16:creationId xmlns:a16="http://schemas.microsoft.com/office/drawing/2014/main" id="{7852763F-D1E0-4CE4-A286-5C098F89090C}"/>
              </a:ext>
            </a:extLst>
          </p:cNvPr>
          <p:cNvPicPr>
            <a:picLocks noChangeAspect="1"/>
          </p:cNvPicPr>
          <p:nvPr/>
        </p:nvPicPr>
        <p:blipFill>
          <a:blip r:embed="rId3"/>
          <a:stretch>
            <a:fillRect/>
          </a:stretch>
        </p:blipFill>
        <p:spPr>
          <a:xfrm>
            <a:off x="10813854" y="7258000"/>
            <a:ext cx="3816546" cy="97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11213">
              <a:alpha val="80000"/>
            </a:srgbClr>
          </a:solidFill>
          <a:ln/>
        </p:spPr>
      </p:sp>
      <p:sp>
        <p:nvSpPr>
          <p:cNvPr id="4" name="Text 1"/>
          <p:cNvSpPr/>
          <p:nvPr/>
        </p:nvSpPr>
        <p:spPr>
          <a:xfrm>
            <a:off x="863798" y="1037034"/>
            <a:ext cx="6002060" cy="596027"/>
          </a:xfrm>
          <a:prstGeom prst="rect">
            <a:avLst/>
          </a:prstGeom>
          <a:noFill/>
          <a:ln/>
        </p:spPr>
        <p:txBody>
          <a:bodyPr wrap="none" lIns="0" tIns="0" rIns="0" bIns="0" rtlCol="0" anchor="t"/>
          <a:lstStyle/>
          <a:p>
            <a:pPr marL="0" indent="0" algn="l">
              <a:lnSpc>
                <a:spcPts val="4650"/>
              </a:lnSpc>
              <a:buNone/>
            </a:pPr>
            <a:r>
              <a:rPr lang="en-US" sz="3750" b="1" dirty="0">
                <a:solidFill>
                  <a:srgbClr val="FFFFFF"/>
                </a:solidFill>
                <a:latin typeface="Montserrat Bold" pitchFamily="34" charset="0"/>
                <a:ea typeface="Montserrat Bold" pitchFamily="34" charset="-122"/>
                <a:cs typeface="Montserrat Bold" pitchFamily="34" charset="-120"/>
              </a:rPr>
              <a:t>1.Missing Value Strategy</a:t>
            </a:r>
            <a:endParaRPr lang="en-US" sz="3750" dirty="0"/>
          </a:p>
        </p:txBody>
      </p:sp>
      <p:sp>
        <p:nvSpPr>
          <p:cNvPr id="5" name="Text 2"/>
          <p:cNvSpPr/>
          <p:nvPr/>
        </p:nvSpPr>
        <p:spPr>
          <a:xfrm>
            <a:off x="863798" y="1900476"/>
            <a:ext cx="12902803" cy="290989"/>
          </a:xfrm>
          <a:prstGeom prst="rect">
            <a:avLst/>
          </a:prstGeom>
          <a:noFill/>
          <a:ln/>
        </p:spPr>
        <p:txBody>
          <a:bodyPr wrap="none" lIns="0" tIns="0" rIns="0" bIns="0" rtlCol="0" anchor="t"/>
          <a:lstStyle/>
          <a:p>
            <a:pPr marL="0" indent="0" algn="l">
              <a:lnSpc>
                <a:spcPts val="2250"/>
              </a:lnSpc>
              <a:buNone/>
            </a:pPr>
            <a:r>
              <a:rPr lang="en-US" sz="1650" dirty="0">
                <a:solidFill>
                  <a:srgbClr val="E2E6E9"/>
                </a:solidFill>
                <a:latin typeface="Source Sans 3" pitchFamily="34" charset="0"/>
                <a:ea typeface="Source Sans 3" pitchFamily="34" charset="-122"/>
                <a:cs typeface="Source Sans 3" pitchFamily="34" charset="-120"/>
              </a:rPr>
              <a:t>Missing Value Imputation</a:t>
            </a:r>
            <a:endParaRPr lang="en-US" sz="1650" dirty="0"/>
          </a:p>
        </p:txBody>
      </p:sp>
      <p:sp>
        <p:nvSpPr>
          <p:cNvPr id="6" name="Shape 3"/>
          <p:cNvSpPr/>
          <p:nvPr/>
        </p:nvSpPr>
        <p:spPr>
          <a:xfrm>
            <a:off x="863798" y="2392085"/>
            <a:ext cx="12902803" cy="605552"/>
          </a:xfrm>
          <a:prstGeom prst="roundRect">
            <a:avLst>
              <a:gd name="adj" fmla="val 5197"/>
            </a:avLst>
          </a:prstGeom>
          <a:solidFill>
            <a:srgbClr val="1E1F20"/>
          </a:solidFill>
          <a:ln/>
        </p:spPr>
      </p:sp>
      <p:sp>
        <p:nvSpPr>
          <p:cNvPr id="7" name="Shape 4"/>
          <p:cNvSpPr/>
          <p:nvPr/>
        </p:nvSpPr>
        <p:spPr>
          <a:xfrm>
            <a:off x="853321" y="2392085"/>
            <a:ext cx="12923758" cy="605552"/>
          </a:xfrm>
          <a:prstGeom prst="roundRect">
            <a:avLst>
              <a:gd name="adj" fmla="val 5197"/>
            </a:avLst>
          </a:prstGeom>
          <a:solidFill>
            <a:srgbClr val="1E1F20"/>
          </a:solidFill>
          <a:ln/>
        </p:spPr>
      </p:sp>
      <p:sp>
        <p:nvSpPr>
          <p:cNvPr id="8" name="Text 5"/>
          <p:cNvSpPr/>
          <p:nvPr/>
        </p:nvSpPr>
        <p:spPr>
          <a:xfrm>
            <a:off x="1063109" y="2549366"/>
            <a:ext cx="12504182" cy="290989"/>
          </a:xfrm>
          <a:prstGeom prst="rect">
            <a:avLst/>
          </a:prstGeom>
          <a:noFill/>
          <a:ln/>
        </p:spPr>
        <p:txBody>
          <a:bodyPr wrap="none" lIns="0" tIns="0" rIns="0" bIns="0" rtlCol="0" anchor="t"/>
          <a:lstStyle/>
          <a:p>
            <a:pPr marL="0" indent="0" algn="l">
              <a:lnSpc>
                <a:spcPts val="2250"/>
              </a:lnSpc>
              <a:buNone/>
            </a:pPr>
            <a:r>
              <a:rPr lang="en-US" sz="1650" dirty="0">
                <a:solidFill>
                  <a:srgbClr val="E2E6E9"/>
                </a:solidFill>
                <a:highlight>
                  <a:srgbClr val="1E1F20"/>
                </a:highlight>
                <a:latin typeface="Consolas" pitchFamily="34" charset="0"/>
                <a:ea typeface="Consolas" pitchFamily="34" charset="-122"/>
                <a:cs typeface="Consolas" pitchFamily="34" charset="-120"/>
              </a:rPr>
              <a:t>train[num_cols] = train[num_cols].fillna(-999) train[object_cols] = train[object_cols].fillna('missing')</a:t>
            </a:r>
            <a:endParaRPr lang="en-US" sz="1650" dirty="0"/>
          </a:p>
        </p:txBody>
      </p:sp>
      <p:sp>
        <p:nvSpPr>
          <p:cNvPr id="9" name="Text 6"/>
          <p:cNvSpPr/>
          <p:nvPr/>
        </p:nvSpPr>
        <p:spPr>
          <a:xfrm>
            <a:off x="863798" y="3265051"/>
            <a:ext cx="2860953" cy="357545"/>
          </a:xfrm>
          <a:prstGeom prst="rect">
            <a:avLst/>
          </a:prstGeom>
          <a:noFill/>
          <a:ln/>
        </p:spPr>
        <p:txBody>
          <a:bodyPr wrap="none" lIns="0" tIns="0" rIns="0" bIns="0" rtlCol="0" anchor="t"/>
          <a:lstStyle/>
          <a:p>
            <a:pPr marL="0" indent="0" algn="l">
              <a:lnSpc>
                <a:spcPts val="2800"/>
              </a:lnSpc>
              <a:buNone/>
            </a:pPr>
            <a:r>
              <a:rPr lang="en-US" sz="2250" b="1" dirty="0">
                <a:solidFill>
                  <a:srgbClr val="FFFFFF"/>
                </a:solidFill>
                <a:latin typeface="Montserrat Bold" pitchFamily="34" charset="0"/>
                <a:ea typeface="Montserrat Bold" pitchFamily="34" charset="-122"/>
                <a:cs typeface="Montserrat Bold" pitchFamily="34" charset="-120"/>
              </a:rPr>
              <a:t>Explanation:</a:t>
            </a:r>
            <a:endParaRPr lang="en-US" sz="2250" dirty="0"/>
          </a:p>
        </p:txBody>
      </p:sp>
      <p:sp>
        <p:nvSpPr>
          <p:cNvPr id="10" name="Text 7"/>
          <p:cNvSpPr/>
          <p:nvPr/>
        </p:nvSpPr>
        <p:spPr>
          <a:xfrm>
            <a:off x="863798" y="3890010"/>
            <a:ext cx="12902803" cy="290989"/>
          </a:xfrm>
          <a:prstGeom prst="rect">
            <a:avLst/>
          </a:prstGeom>
          <a:noFill/>
          <a:ln/>
        </p:spPr>
        <p:txBody>
          <a:bodyPr wrap="none" lIns="0" tIns="0" rIns="0" bIns="0" rtlCol="0" anchor="t"/>
          <a:lstStyle/>
          <a:p>
            <a:pPr marL="0" indent="0" algn="l">
              <a:lnSpc>
                <a:spcPts val="2250"/>
              </a:lnSpc>
              <a:buNone/>
            </a:pPr>
            <a:r>
              <a:rPr lang="en-US" sz="1650" dirty="0">
                <a:solidFill>
                  <a:srgbClr val="E2E6E9"/>
                </a:solidFill>
                <a:latin typeface="Source Sans 3" pitchFamily="34" charset="0"/>
                <a:ea typeface="Source Sans 3" pitchFamily="34" charset="-122"/>
                <a:cs typeface="Source Sans 3" pitchFamily="34" charset="-120"/>
              </a:rPr>
              <a:t>We did not delete missing values.</a:t>
            </a:r>
            <a:endParaRPr lang="en-US" sz="1650" dirty="0"/>
          </a:p>
        </p:txBody>
      </p:sp>
      <p:sp>
        <p:nvSpPr>
          <p:cNvPr id="11" name="Text 8"/>
          <p:cNvSpPr/>
          <p:nvPr/>
        </p:nvSpPr>
        <p:spPr>
          <a:xfrm>
            <a:off x="863798" y="4381619"/>
            <a:ext cx="12902803" cy="290989"/>
          </a:xfrm>
          <a:prstGeom prst="rect">
            <a:avLst/>
          </a:prstGeom>
          <a:noFill/>
          <a:ln/>
        </p:spPr>
        <p:txBody>
          <a:bodyPr wrap="none" lIns="0" tIns="0" rIns="0" bIns="0" rtlCol="0" anchor="t"/>
          <a:lstStyle/>
          <a:p>
            <a:pPr marL="0" indent="0" algn="l">
              <a:lnSpc>
                <a:spcPts val="2250"/>
              </a:lnSpc>
              <a:buNone/>
            </a:pPr>
            <a:r>
              <a:rPr lang="en-US" sz="1650" dirty="0">
                <a:solidFill>
                  <a:srgbClr val="E2E6E9"/>
                </a:solidFill>
                <a:latin typeface="Source Sans 3" pitchFamily="34" charset="0"/>
                <a:ea typeface="Source Sans 3" pitchFamily="34" charset="-122"/>
                <a:cs typeface="Source Sans 3" pitchFamily="34" charset="-120"/>
              </a:rPr>
              <a:t>Instead:</a:t>
            </a:r>
            <a:endParaRPr lang="en-US" sz="1650" dirty="0"/>
          </a:p>
        </p:txBody>
      </p:sp>
      <p:sp>
        <p:nvSpPr>
          <p:cNvPr id="12" name="Text 9"/>
          <p:cNvSpPr/>
          <p:nvPr/>
        </p:nvSpPr>
        <p:spPr>
          <a:xfrm>
            <a:off x="863798" y="4873228"/>
            <a:ext cx="12902803" cy="644366"/>
          </a:xfrm>
          <a:prstGeom prst="rect">
            <a:avLst/>
          </a:prstGeom>
          <a:noFill/>
          <a:ln/>
        </p:spPr>
        <p:txBody>
          <a:bodyPr wrap="square" lIns="0" tIns="0" rIns="0" bIns="0" rtlCol="0" anchor="t"/>
          <a:lstStyle/>
          <a:p>
            <a:pPr marL="342900" indent="-342900" algn="l">
              <a:lnSpc>
                <a:spcPts val="2250"/>
              </a:lnSpc>
              <a:buSzPct val="100000"/>
              <a:buChar char="•"/>
            </a:pPr>
            <a:r>
              <a:rPr lang="en-US" sz="1650" dirty="0">
                <a:solidFill>
                  <a:srgbClr val="E2E6E9"/>
                </a:solidFill>
                <a:latin typeface="Source Sans 3" pitchFamily="34" charset="0"/>
                <a:ea typeface="Source Sans 3" pitchFamily="34" charset="-122"/>
                <a:cs typeface="Source Sans 3" pitchFamily="34" charset="-120"/>
              </a:rPr>
              <a:t>Numerical → -999</a:t>
            </a:r>
            <a:endParaRPr lang="en-US" sz="1650" dirty="0"/>
          </a:p>
          <a:p>
            <a:pPr marL="342900" indent="-342900" algn="l">
              <a:lnSpc>
                <a:spcPts val="2250"/>
              </a:lnSpc>
              <a:buSzPct val="100000"/>
              <a:buChar char="•"/>
            </a:pPr>
            <a:r>
              <a:rPr lang="en-US" sz="1650" dirty="0">
                <a:solidFill>
                  <a:srgbClr val="E2E6E9"/>
                </a:solidFill>
                <a:latin typeface="Source Sans 3" pitchFamily="34" charset="0"/>
                <a:ea typeface="Source Sans 3" pitchFamily="34" charset="-122"/>
                <a:cs typeface="Source Sans 3" pitchFamily="34" charset="-120"/>
              </a:rPr>
              <a:t>Text → "missing"</a:t>
            </a:r>
            <a:endParaRPr lang="en-US" sz="1650" dirty="0"/>
          </a:p>
        </p:txBody>
      </p:sp>
      <p:sp>
        <p:nvSpPr>
          <p:cNvPr id="13" name="Text 10"/>
          <p:cNvSpPr/>
          <p:nvPr/>
        </p:nvSpPr>
        <p:spPr>
          <a:xfrm>
            <a:off x="863798" y="5785009"/>
            <a:ext cx="2860953" cy="357545"/>
          </a:xfrm>
          <a:prstGeom prst="rect">
            <a:avLst/>
          </a:prstGeom>
          <a:noFill/>
          <a:ln/>
        </p:spPr>
        <p:txBody>
          <a:bodyPr wrap="none" lIns="0" tIns="0" rIns="0" bIns="0" rtlCol="0" anchor="t"/>
          <a:lstStyle/>
          <a:p>
            <a:pPr marL="0" indent="0" algn="l">
              <a:lnSpc>
                <a:spcPts val="2800"/>
              </a:lnSpc>
              <a:buNone/>
            </a:pPr>
            <a:r>
              <a:rPr lang="en-US" sz="2250" b="1" dirty="0">
                <a:solidFill>
                  <a:srgbClr val="FFFFFF"/>
                </a:solidFill>
                <a:latin typeface="Montserrat Bold" pitchFamily="34" charset="0"/>
                <a:ea typeface="Montserrat Bold" pitchFamily="34" charset="-122"/>
                <a:cs typeface="Montserrat Bold" pitchFamily="34" charset="-120"/>
              </a:rPr>
              <a:t>Logic:</a:t>
            </a:r>
            <a:endParaRPr lang="en-US" sz="2250" dirty="0"/>
          </a:p>
        </p:txBody>
      </p:sp>
      <p:sp>
        <p:nvSpPr>
          <p:cNvPr id="14" name="Text 11"/>
          <p:cNvSpPr/>
          <p:nvPr/>
        </p:nvSpPr>
        <p:spPr>
          <a:xfrm>
            <a:off x="863798" y="6409968"/>
            <a:ext cx="12902803" cy="290989"/>
          </a:xfrm>
          <a:prstGeom prst="rect">
            <a:avLst/>
          </a:prstGeom>
          <a:noFill/>
          <a:ln/>
        </p:spPr>
        <p:txBody>
          <a:bodyPr wrap="none" lIns="0" tIns="0" rIns="0" bIns="0" rtlCol="0" anchor="t"/>
          <a:lstStyle/>
          <a:p>
            <a:pPr marL="0" indent="0" algn="l">
              <a:lnSpc>
                <a:spcPts val="2250"/>
              </a:lnSpc>
              <a:buNone/>
            </a:pPr>
            <a:r>
              <a:rPr lang="en-US" sz="1650" dirty="0">
                <a:solidFill>
                  <a:srgbClr val="E2E6E9"/>
                </a:solidFill>
                <a:latin typeface="Source Sans 3" pitchFamily="34" charset="0"/>
                <a:ea typeface="Source Sans 3" pitchFamily="34" charset="-122"/>
                <a:cs typeface="Source Sans 3" pitchFamily="34" charset="-120"/>
              </a:rPr>
              <a:t>In fraud detection, missing data can mean hidden identity.</a:t>
            </a:r>
            <a:endParaRPr lang="en-US" sz="1650" dirty="0"/>
          </a:p>
        </p:txBody>
      </p:sp>
      <p:sp>
        <p:nvSpPr>
          <p:cNvPr id="15" name="Text 12"/>
          <p:cNvSpPr/>
          <p:nvPr/>
        </p:nvSpPr>
        <p:spPr>
          <a:xfrm>
            <a:off x="863798" y="6901577"/>
            <a:ext cx="12902803" cy="290989"/>
          </a:xfrm>
          <a:prstGeom prst="rect">
            <a:avLst/>
          </a:prstGeom>
          <a:noFill/>
          <a:ln/>
        </p:spPr>
        <p:txBody>
          <a:bodyPr wrap="none" lIns="0" tIns="0" rIns="0" bIns="0" rtlCol="0" anchor="t"/>
          <a:lstStyle/>
          <a:p>
            <a:pPr marL="0" indent="0" algn="l">
              <a:lnSpc>
                <a:spcPts val="2250"/>
              </a:lnSpc>
              <a:buNone/>
            </a:pPr>
            <a:r>
              <a:rPr lang="en-US" sz="1650" dirty="0">
                <a:solidFill>
                  <a:srgbClr val="E2E6E9"/>
                </a:solidFill>
                <a:latin typeface="Source Sans 3" pitchFamily="34" charset="0"/>
                <a:ea typeface="Source Sans 3" pitchFamily="34" charset="-122"/>
                <a:cs typeface="Source Sans 3" pitchFamily="34" charset="-120"/>
              </a:rPr>
              <a:t>Tree-based models like XGBoost can learn that -999 itself is suspicious.</a:t>
            </a:r>
            <a:endParaRPr lang="en-US" sz="1650" dirty="0"/>
          </a:p>
        </p:txBody>
      </p:sp>
      <p:pic>
        <p:nvPicPr>
          <p:cNvPr id="17" name="Picture 16">
            <a:extLst>
              <a:ext uri="{FF2B5EF4-FFF2-40B4-BE49-F238E27FC236}">
                <a16:creationId xmlns:a16="http://schemas.microsoft.com/office/drawing/2014/main" id="{51A9573B-CD7C-41E9-A1E5-F8F4A2564506}"/>
              </a:ext>
            </a:extLst>
          </p:cNvPr>
          <p:cNvPicPr>
            <a:picLocks noChangeAspect="1"/>
          </p:cNvPicPr>
          <p:nvPr/>
        </p:nvPicPr>
        <p:blipFill>
          <a:blip r:embed="rId4"/>
          <a:stretch>
            <a:fillRect/>
          </a:stretch>
        </p:blipFill>
        <p:spPr>
          <a:xfrm>
            <a:off x="10813854" y="7258000"/>
            <a:ext cx="3816546" cy="97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3798" y="938093"/>
            <a:ext cx="2605207" cy="273487"/>
          </a:xfrm>
          <a:prstGeom prst="rect">
            <a:avLst/>
          </a:prstGeom>
          <a:noFill/>
          <a:ln/>
        </p:spPr>
        <p:txBody>
          <a:bodyPr wrap="none" lIns="0" tIns="0" rIns="0" bIns="0" rtlCol="0" anchor="t"/>
          <a:lstStyle/>
          <a:p>
            <a:pPr marL="0" indent="0" algn="l">
              <a:lnSpc>
                <a:spcPts val="2150"/>
              </a:lnSpc>
              <a:buNone/>
            </a:pPr>
            <a:r>
              <a:rPr lang="en-US" sz="1700" b="1" dirty="0">
                <a:solidFill>
                  <a:srgbClr val="FFFFFF"/>
                </a:solidFill>
                <a:latin typeface="Montserrat Bold" pitchFamily="34" charset="0"/>
                <a:ea typeface="Montserrat Bold" pitchFamily="34" charset="-122"/>
                <a:cs typeface="Montserrat Bold" pitchFamily="34" charset="-120"/>
              </a:rPr>
              <a:t>2.Time-Based Features</a:t>
            </a:r>
            <a:endParaRPr lang="en-US" sz="1700" dirty="0"/>
          </a:p>
        </p:txBody>
      </p:sp>
      <p:sp>
        <p:nvSpPr>
          <p:cNvPr id="3" name="Text 1"/>
          <p:cNvSpPr/>
          <p:nvPr/>
        </p:nvSpPr>
        <p:spPr>
          <a:xfrm>
            <a:off x="863798" y="1253252"/>
            <a:ext cx="1927860" cy="227767"/>
          </a:xfrm>
          <a:prstGeom prst="rect">
            <a:avLst/>
          </a:prstGeom>
          <a:noFill/>
          <a:ln/>
        </p:spPr>
        <p:txBody>
          <a:bodyPr wrap="none" lIns="0" tIns="0" rIns="0" bIns="0" rtlCol="0" anchor="t"/>
          <a:lstStyle/>
          <a:p>
            <a:pPr marL="0" indent="0" algn="l">
              <a:lnSpc>
                <a:spcPts val="1750"/>
              </a:lnSpc>
              <a:buNone/>
            </a:pPr>
            <a:r>
              <a:rPr lang="en-US" sz="1400" b="1" dirty="0">
                <a:solidFill>
                  <a:srgbClr val="FFFFFF"/>
                </a:solidFill>
                <a:latin typeface="Montserrat Bold" pitchFamily="34" charset="0"/>
                <a:ea typeface="Montserrat Bold" pitchFamily="34" charset="-122"/>
                <a:cs typeface="Montserrat Bold" pitchFamily="34" charset="-120"/>
              </a:rPr>
              <a:t>Datetime Extraction</a:t>
            </a:r>
            <a:endParaRPr lang="en-US" sz="1400" dirty="0"/>
          </a:p>
        </p:txBody>
      </p:sp>
      <p:sp>
        <p:nvSpPr>
          <p:cNvPr id="4" name="Shape 2"/>
          <p:cNvSpPr/>
          <p:nvPr/>
        </p:nvSpPr>
        <p:spPr>
          <a:xfrm>
            <a:off x="863798" y="1637348"/>
            <a:ext cx="12902803" cy="1233487"/>
          </a:xfrm>
          <a:prstGeom prst="roundRect">
            <a:avLst>
              <a:gd name="adj" fmla="val 1951"/>
            </a:avLst>
          </a:prstGeom>
          <a:solidFill>
            <a:srgbClr val="1E1F20"/>
          </a:solidFill>
          <a:ln/>
        </p:spPr>
      </p:sp>
      <p:sp>
        <p:nvSpPr>
          <p:cNvPr id="5" name="Shape 3"/>
          <p:cNvSpPr/>
          <p:nvPr/>
        </p:nvSpPr>
        <p:spPr>
          <a:xfrm>
            <a:off x="855821" y="1637348"/>
            <a:ext cx="12918758" cy="1233487"/>
          </a:xfrm>
          <a:prstGeom prst="roundRect">
            <a:avLst>
              <a:gd name="adj" fmla="val 1951"/>
            </a:avLst>
          </a:prstGeom>
          <a:solidFill>
            <a:srgbClr val="1E1F20"/>
          </a:solidFill>
          <a:ln/>
        </p:spPr>
      </p:sp>
      <p:sp>
        <p:nvSpPr>
          <p:cNvPr id="6" name="Text 4"/>
          <p:cNvSpPr/>
          <p:nvPr/>
        </p:nvSpPr>
        <p:spPr>
          <a:xfrm>
            <a:off x="1016198" y="1757601"/>
            <a:ext cx="12598003" cy="992981"/>
          </a:xfrm>
          <a:prstGeom prst="rect">
            <a:avLst/>
          </a:prstGeom>
          <a:noFill/>
          <a:ln/>
        </p:spPr>
        <p:txBody>
          <a:bodyPr wrap="square" lIns="0" tIns="0" rIns="0" bIns="0" rtlCol="0" anchor="t"/>
          <a:lstStyle/>
          <a:p>
            <a:pPr marL="0" indent="0" algn="l">
              <a:lnSpc>
                <a:spcPts val="1550"/>
              </a:lnSpc>
              <a:buNone/>
            </a:pPr>
            <a:r>
              <a:rPr lang="en-US" sz="1250" dirty="0">
                <a:solidFill>
                  <a:srgbClr val="E2E6E9"/>
                </a:solidFill>
                <a:highlight>
                  <a:srgbClr val="1E1F20"/>
                </a:highlight>
                <a:latin typeface="Consolas" pitchFamily="34" charset="0"/>
                <a:ea typeface="Consolas" pitchFamily="34" charset="-122"/>
                <a:cs typeface="Consolas" pitchFamily="34" charset="-120"/>
              </a:rPr>
              <a:t>train['TransactionDT'] = pd.to_datetime(train['TransactionDT'], unit='s')</a:t>
            </a:r>
            <a:endParaRPr lang="en-US" sz="1250" dirty="0"/>
          </a:p>
          <a:p>
            <a:pPr marL="0" indent="0" algn="l">
              <a:lnSpc>
                <a:spcPts val="1550"/>
              </a:lnSpc>
              <a:buNone/>
            </a:pPr>
            <a:r>
              <a:rPr lang="en-US" sz="1250" dirty="0">
                <a:solidFill>
                  <a:srgbClr val="E2E6E9"/>
                </a:solidFill>
                <a:highlight>
                  <a:srgbClr val="1E1F20"/>
                </a:highlight>
                <a:latin typeface="Consolas" pitchFamily="34" charset="0"/>
                <a:ea typeface="Consolas" pitchFamily="34" charset="-122"/>
                <a:cs typeface="Consolas" pitchFamily="34" charset="-120"/>
              </a:rPr>
              <a:t>train['DT_hour'] = train['TransactionDT'].dt.hour</a:t>
            </a:r>
            <a:endParaRPr lang="en-US" sz="1250" dirty="0"/>
          </a:p>
          <a:p>
            <a:pPr marL="0" indent="0" algn="l">
              <a:lnSpc>
                <a:spcPts val="1550"/>
              </a:lnSpc>
              <a:buNone/>
            </a:pPr>
            <a:r>
              <a:rPr lang="en-US" sz="1250" dirty="0">
                <a:solidFill>
                  <a:srgbClr val="E2E6E9"/>
                </a:solidFill>
                <a:highlight>
                  <a:srgbClr val="1E1F20"/>
                </a:highlight>
                <a:latin typeface="Consolas" pitchFamily="34" charset="0"/>
                <a:ea typeface="Consolas" pitchFamily="34" charset="-122"/>
                <a:cs typeface="Consolas" pitchFamily="34" charset="-120"/>
              </a:rPr>
              <a:t>train['DT_day'] = train['TransactionDT'].dt.day</a:t>
            </a:r>
            <a:endParaRPr lang="en-US" sz="1250" dirty="0"/>
          </a:p>
          <a:p>
            <a:pPr marL="0" indent="0" algn="l">
              <a:lnSpc>
                <a:spcPts val="1550"/>
              </a:lnSpc>
              <a:buNone/>
            </a:pPr>
            <a:r>
              <a:rPr lang="en-US" sz="1250" dirty="0">
                <a:solidFill>
                  <a:srgbClr val="E2E6E9"/>
                </a:solidFill>
                <a:highlight>
                  <a:srgbClr val="1E1F20"/>
                </a:highlight>
                <a:latin typeface="Consolas" pitchFamily="34" charset="0"/>
                <a:ea typeface="Consolas" pitchFamily="34" charset="-122"/>
                <a:cs typeface="Consolas" pitchFamily="34" charset="-120"/>
              </a:rPr>
              <a:t>train['DT_weekday'] = train['TransactionDT'].dt.weekday</a:t>
            </a:r>
            <a:endParaRPr lang="en-US" sz="1250" dirty="0"/>
          </a:p>
          <a:p>
            <a:pPr marL="0" indent="0" algn="l">
              <a:lnSpc>
                <a:spcPts val="1550"/>
              </a:lnSpc>
              <a:buNone/>
            </a:pPr>
            <a:r>
              <a:rPr lang="en-US" sz="1250" dirty="0">
                <a:solidFill>
                  <a:srgbClr val="E2E6E9"/>
                </a:solidFill>
                <a:highlight>
                  <a:srgbClr val="1E1F20"/>
                </a:highlight>
                <a:latin typeface="Consolas" pitchFamily="34" charset="0"/>
                <a:ea typeface="Consolas" pitchFamily="34" charset="-122"/>
                <a:cs typeface="Consolas" pitchFamily="34" charset="-120"/>
              </a:rPr>
              <a:t>    </a:t>
            </a:r>
            <a:endParaRPr lang="en-US" sz="1250" dirty="0"/>
          </a:p>
        </p:txBody>
      </p:sp>
      <p:sp>
        <p:nvSpPr>
          <p:cNvPr id="7" name="Text 5"/>
          <p:cNvSpPr/>
          <p:nvPr/>
        </p:nvSpPr>
        <p:spPr>
          <a:xfrm>
            <a:off x="863798" y="3027164"/>
            <a:ext cx="1823085" cy="227767"/>
          </a:xfrm>
          <a:prstGeom prst="rect">
            <a:avLst/>
          </a:prstGeom>
          <a:noFill/>
          <a:ln/>
        </p:spPr>
        <p:txBody>
          <a:bodyPr wrap="none" lIns="0" tIns="0" rIns="0" bIns="0" rtlCol="0" anchor="t"/>
          <a:lstStyle/>
          <a:p>
            <a:pPr marL="0" indent="0" algn="l">
              <a:lnSpc>
                <a:spcPts val="1750"/>
              </a:lnSpc>
              <a:buNone/>
            </a:pPr>
            <a:r>
              <a:rPr lang="en-US" sz="1400" b="1" dirty="0">
                <a:solidFill>
                  <a:srgbClr val="FFFFFF"/>
                </a:solidFill>
                <a:latin typeface="Montserrat Bold" pitchFamily="34" charset="0"/>
                <a:ea typeface="Montserrat Bold" pitchFamily="34" charset="-122"/>
                <a:cs typeface="Montserrat Bold" pitchFamily="34" charset="-120"/>
              </a:rPr>
              <a:t>Explanation:</a:t>
            </a:r>
            <a:endParaRPr lang="en-US" sz="1400" dirty="0"/>
          </a:p>
        </p:txBody>
      </p:sp>
      <p:sp>
        <p:nvSpPr>
          <p:cNvPr id="8" name="Text 6"/>
          <p:cNvSpPr/>
          <p:nvPr/>
        </p:nvSpPr>
        <p:spPr>
          <a:xfrm>
            <a:off x="863798" y="3411260"/>
            <a:ext cx="12902803" cy="198596"/>
          </a:xfrm>
          <a:prstGeom prst="rect">
            <a:avLst/>
          </a:prstGeom>
          <a:noFill/>
          <a:ln/>
        </p:spPr>
        <p:txBody>
          <a:bodyPr wrap="none" lIns="0" tIns="0" rIns="0" bIns="0" rtlCol="0" anchor="t"/>
          <a:lstStyle/>
          <a:p>
            <a:pPr marL="0" indent="0" algn="l">
              <a:lnSpc>
                <a:spcPts val="1550"/>
              </a:lnSpc>
              <a:buNone/>
            </a:pPr>
            <a:r>
              <a:rPr lang="en-US" sz="1250" dirty="0">
                <a:solidFill>
                  <a:srgbClr val="E2E6E9"/>
                </a:solidFill>
                <a:latin typeface="Source Sans 3" pitchFamily="34" charset="0"/>
                <a:ea typeface="Source Sans 3" pitchFamily="34" charset="-122"/>
                <a:cs typeface="Source Sans 3" pitchFamily="34" charset="-120"/>
              </a:rPr>
              <a:t>We converted a raw seconds column into real calendar time.</a:t>
            </a:r>
            <a:endParaRPr lang="en-US" sz="1250" dirty="0"/>
          </a:p>
        </p:txBody>
      </p:sp>
      <p:sp>
        <p:nvSpPr>
          <p:cNvPr id="9" name="Text 7"/>
          <p:cNvSpPr/>
          <p:nvPr/>
        </p:nvSpPr>
        <p:spPr>
          <a:xfrm>
            <a:off x="863798" y="3727133"/>
            <a:ext cx="12902803" cy="198596"/>
          </a:xfrm>
          <a:prstGeom prst="rect">
            <a:avLst/>
          </a:prstGeom>
          <a:noFill/>
          <a:ln/>
        </p:spPr>
        <p:txBody>
          <a:bodyPr wrap="none" lIns="0" tIns="0" rIns="0" bIns="0" rtlCol="0" anchor="t"/>
          <a:lstStyle/>
          <a:p>
            <a:pPr marL="0" indent="0" algn="l">
              <a:lnSpc>
                <a:spcPts val="1550"/>
              </a:lnSpc>
              <a:buNone/>
            </a:pPr>
            <a:r>
              <a:rPr lang="en-US" sz="1250" dirty="0">
                <a:solidFill>
                  <a:srgbClr val="E2E6E9"/>
                </a:solidFill>
                <a:latin typeface="Source Sans 3" pitchFamily="34" charset="0"/>
                <a:ea typeface="Source Sans 3" pitchFamily="34" charset="-122"/>
                <a:cs typeface="Source Sans 3" pitchFamily="34" charset="-120"/>
              </a:rPr>
              <a:t>Then we extracted:</a:t>
            </a:r>
            <a:endParaRPr lang="en-US" sz="1250" dirty="0"/>
          </a:p>
        </p:txBody>
      </p:sp>
      <p:sp>
        <p:nvSpPr>
          <p:cNvPr id="10" name="Text 8"/>
          <p:cNvSpPr/>
          <p:nvPr/>
        </p:nvSpPr>
        <p:spPr>
          <a:xfrm>
            <a:off x="863798" y="4043005"/>
            <a:ext cx="12902803" cy="668655"/>
          </a:xfrm>
          <a:prstGeom prst="rect">
            <a:avLst/>
          </a:prstGeom>
          <a:noFill/>
          <a:ln/>
        </p:spPr>
        <p:txBody>
          <a:bodyPr wrap="square" lIns="0" tIns="0" rIns="0" bIns="0" rtlCol="0" anchor="t"/>
          <a:lstStyle/>
          <a:p>
            <a:pPr marL="342900" indent="-342900" algn="l">
              <a:lnSpc>
                <a:spcPts val="1550"/>
              </a:lnSpc>
              <a:buSzPct val="100000"/>
              <a:buChar char="•"/>
            </a:pPr>
            <a:r>
              <a:rPr lang="en-US" sz="1250" dirty="0">
                <a:solidFill>
                  <a:srgbClr val="E2E6E9"/>
                </a:solidFill>
                <a:latin typeface="Source Sans 3" pitchFamily="34" charset="0"/>
                <a:ea typeface="Source Sans 3" pitchFamily="34" charset="-122"/>
                <a:cs typeface="Source Sans 3" pitchFamily="34" charset="-120"/>
              </a:rPr>
              <a:t>Hour</a:t>
            </a:r>
            <a:endParaRPr lang="en-US" sz="1250" dirty="0"/>
          </a:p>
          <a:p>
            <a:pPr marL="342900" indent="-342900" algn="l">
              <a:lnSpc>
                <a:spcPts val="1550"/>
              </a:lnSpc>
              <a:buSzPct val="100000"/>
              <a:buChar char="•"/>
            </a:pPr>
            <a:r>
              <a:rPr lang="en-US" sz="1250" dirty="0">
                <a:solidFill>
                  <a:srgbClr val="E2E6E9"/>
                </a:solidFill>
                <a:latin typeface="Source Sans 3" pitchFamily="34" charset="0"/>
                <a:ea typeface="Source Sans 3" pitchFamily="34" charset="-122"/>
                <a:cs typeface="Source Sans 3" pitchFamily="34" charset="-120"/>
              </a:rPr>
              <a:t>Day</a:t>
            </a:r>
            <a:endParaRPr lang="en-US" sz="1250" dirty="0"/>
          </a:p>
          <a:p>
            <a:pPr marL="342900" indent="-342900" algn="l">
              <a:lnSpc>
                <a:spcPts val="1550"/>
              </a:lnSpc>
              <a:buSzPct val="100000"/>
              <a:buChar char="•"/>
            </a:pPr>
            <a:r>
              <a:rPr lang="en-US" sz="1250" dirty="0">
                <a:solidFill>
                  <a:srgbClr val="E2E6E9"/>
                </a:solidFill>
                <a:latin typeface="Source Sans 3" pitchFamily="34" charset="0"/>
                <a:ea typeface="Source Sans 3" pitchFamily="34" charset="-122"/>
                <a:cs typeface="Source Sans 3" pitchFamily="34" charset="-120"/>
              </a:rPr>
              <a:t>Weekday</a:t>
            </a:r>
            <a:endParaRPr lang="en-US" sz="1250" dirty="0"/>
          </a:p>
        </p:txBody>
      </p:sp>
      <p:sp>
        <p:nvSpPr>
          <p:cNvPr id="11" name="Text 9"/>
          <p:cNvSpPr/>
          <p:nvPr/>
        </p:nvSpPr>
        <p:spPr>
          <a:xfrm>
            <a:off x="863798" y="4867989"/>
            <a:ext cx="1823085" cy="227767"/>
          </a:xfrm>
          <a:prstGeom prst="rect">
            <a:avLst/>
          </a:prstGeom>
          <a:noFill/>
          <a:ln/>
        </p:spPr>
        <p:txBody>
          <a:bodyPr wrap="none" lIns="0" tIns="0" rIns="0" bIns="0" rtlCol="0" anchor="t"/>
          <a:lstStyle/>
          <a:p>
            <a:pPr marL="0" indent="0" algn="l">
              <a:lnSpc>
                <a:spcPts val="1750"/>
              </a:lnSpc>
              <a:buNone/>
            </a:pPr>
            <a:r>
              <a:rPr lang="en-US" sz="1400" b="1" dirty="0">
                <a:solidFill>
                  <a:srgbClr val="FFFFFF"/>
                </a:solidFill>
                <a:latin typeface="Montserrat Bold" pitchFamily="34" charset="0"/>
                <a:ea typeface="Montserrat Bold" pitchFamily="34" charset="-122"/>
                <a:cs typeface="Montserrat Bold" pitchFamily="34" charset="-120"/>
              </a:rPr>
              <a:t>Logic:</a:t>
            </a:r>
            <a:endParaRPr lang="en-US" sz="1400" dirty="0"/>
          </a:p>
        </p:txBody>
      </p:sp>
      <p:sp>
        <p:nvSpPr>
          <p:cNvPr id="12" name="Text 10"/>
          <p:cNvSpPr/>
          <p:nvPr/>
        </p:nvSpPr>
        <p:spPr>
          <a:xfrm>
            <a:off x="863798" y="5252085"/>
            <a:ext cx="12902803" cy="198596"/>
          </a:xfrm>
          <a:prstGeom prst="rect">
            <a:avLst/>
          </a:prstGeom>
          <a:noFill/>
          <a:ln/>
        </p:spPr>
        <p:txBody>
          <a:bodyPr wrap="none" lIns="0" tIns="0" rIns="0" bIns="0" rtlCol="0" anchor="t"/>
          <a:lstStyle/>
          <a:p>
            <a:pPr marL="0" indent="0" algn="l">
              <a:lnSpc>
                <a:spcPts val="1550"/>
              </a:lnSpc>
              <a:buNone/>
            </a:pPr>
            <a:r>
              <a:rPr lang="en-US" sz="1250" dirty="0">
                <a:solidFill>
                  <a:srgbClr val="E2E6E9"/>
                </a:solidFill>
                <a:latin typeface="Source Sans 3" pitchFamily="34" charset="0"/>
                <a:ea typeface="Source Sans 3" pitchFamily="34" charset="-122"/>
                <a:cs typeface="Source Sans 3" pitchFamily="34" charset="-120"/>
              </a:rPr>
              <a:t>Human behavior follows time patterns.</a:t>
            </a:r>
            <a:endParaRPr lang="en-US" sz="1250" dirty="0"/>
          </a:p>
        </p:txBody>
      </p:sp>
      <p:sp>
        <p:nvSpPr>
          <p:cNvPr id="13" name="Text 11"/>
          <p:cNvSpPr/>
          <p:nvPr/>
        </p:nvSpPr>
        <p:spPr>
          <a:xfrm>
            <a:off x="863798" y="5567958"/>
            <a:ext cx="12902803" cy="198596"/>
          </a:xfrm>
          <a:prstGeom prst="rect">
            <a:avLst/>
          </a:prstGeom>
          <a:noFill/>
          <a:ln/>
        </p:spPr>
        <p:txBody>
          <a:bodyPr wrap="none" lIns="0" tIns="0" rIns="0" bIns="0" rtlCol="0" anchor="t"/>
          <a:lstStyle/>
          <a:p>
            <a:pPr marL="0" indent="0" algn="l">
              <a:lnSpc>
                <a:spcPts val="1550"/>
              </a:lnSpc>
              <a:buNone/>
            </a:pPr>
            <a:r>
              <a:rPr lang="en-US" sz="1250" dirty="0">
                <a:solidFill>
                  <a:srgbClr val="E2E6E9"/>
                </a:solidFill>
                <a:latin typeface="Source Sans 3" pitchFamily="34" charset="0"/>
                <a:ea typeface="Source Sans 3" pitchFamily="34" charset="-122"/>
                <a:cs typeface="Source Sans 3" pitchFamily="34" charset="-120"/>
              </a:rPr>
              <a:t>For example:</a:t>
            </a:r>
            <a:endParaRPr lang="en-US" sz="1250" dirty="0"/>
          </a:p>
        </p:txBody>
      </p:sp>
      <p:sp>
        <p:nvSpPr>
          <p:cNvPr id="14" name="Text 12"/>
          <p:cNvSpPr/>
          <p:nvPr/>
        </p:nvSpPr>
        <p:spPr>
          <a:xfrm>
            <a:off x="863798" y="5883831"/>
            <a:ext cx="12902803" cy="668655"/>
          </a:xfrm>
          <a:prstGeom prst="rect">
            <a:avLst/>
          </a:prstGeom>
          <a:noFill/>
          <a:ln/>
        </p:spPr>
        <p:txBody>
          <a:bodyPr wrap="square" lIns="0" tIns="0" rIns="0" bIns="0" rtlCol="0" anchor="t"/>
          <a:lstStyle/>
          <a:p>
            <a:pPr marL="342900" indent="-342900" algn="l">
              <a:lnSpc>
                <a:spcPts val="1550"/>
              </a:lnSpc>
              <a:buSzPct val="100000"/>
              <a:buChar char="•"/>
            </a:pPr>
            <a:r>
              <a:rPr lang="en-US" sz="1250" dirty="0">
                <a:solidFill>
                  <a:srgbClr val="E2E6E9"/>
                </a:solidFill>
                <a:latin typeface="Source Sans 3" pitchFamily="34" charset="0"/>
                <a:ea typeface="Source Sans 3" pitchFamily="34" charset="-122"/>
                <a:cs typeface="Source Sans 3" pitchFamily="34" charset="-120"/>
              </a:rPr>
              <a:t>Fraud may increase at 3 AM</a:t>
            </a:r>
            <a:endParaRPr lang="en-US" sz="1250" dirty="0"/>
          </a:p>
          <a:p>
            <a:pPr marL="342900" indent="-342900" algn="l">
              <a:lnSpc>
                <a:spcPts val="1550"/>
              </a:lnSpc>
              <a:buSzPct val="100000"/>
              <a:buChar char="•"/>
            </a:pPr>
            <a:r>
              <a:rPr lang="en-US" sz="1250" dirty="0">
                <a:solidFill>
                  <a:srgbClr val="E2E6E9"/>
                </a:solidFill>
                <a:latin typeface="Source Sans 3" pitchFamily="34" charset="0"/>
                <a:ea typeface="Source Sans 3" pitchFamily="34" charset="-122"/>
                <a:cs typeface="Source Sans 3" pitchFamily="34" charset="-120"/>
              </a:rPr>
              <a:t>Or during weekends</a:t>
            </a:r>
            <a:endParaRPr lang="en-US" sz="1250" dirty="0"/>
          </a:p>
          <a:p>
            <a:pPr marL="342900" indent="-342900" algn="l">
              <a:lnSpc>
                <a:spcPts val="1550"/>
              </a:lnSpc>
              <a:buSzPct val="100000"/>
              <a:buChar char="•"/>
            </a:pPr>
            <a:r>
              <a:rPr lang="en-US" sz="1250" dirty="0">
                <a:solidFill>
                  <a:srgbClr val="E2E6E9"/>
                </a:solidFill>
                <a:latin typeface="Source Sans 3" pitchFamily="34" charset="0"/>
                <a:ea typeface="Source Sans 3" pitchFamily="34" charset="-122"/>
                <a:cs typeface="Source Sans 3" pitchFamily="34" charset="-120"/>
              </a:rPr>
              <a:t>Or during specific days</a:t>
            </a:r>
            <a:endParaRPr lang="en-US" sz="1250" dirty="0"/>
          </a:p>
        </p:txBody>
      </p:sp>
      <p:sp>
        <p:nvSpPr>
          <p:cNvPr id="15" name="Text 13"/>
          <p:cNvSpPr/>
          <p:nvPr/>
        </p:nvSpPr>
        <p:spPr>
          <a:xfrm>
            <a:off x="863798" y="6708815"/>
            <a:ext cx="1823085" cy="227767"/>
          </a:xfrm>
          <a:prstGeom prst="rect">
            <a:avLst/>
          </a:prstGeom>
          <a:noFill/>
          <a:ln/>
        </p:spPr>
        <p:txBody>
          <a:bodyPr wrap="none" lIns="0" tIns="0" rIns="0" bIns="0" rtlCol="0" anchor="t"/>
          <a:lstStyle/>
          <a:p>
            <a:pPr marL="0" indent="0" algn="l">
              <a:lnSpc>
                <a:spcPts val="1750"/>
              </a:lnSpc>
              <a:buNone/>
            </a:pPr>
            <a:r>
              <a:rPr lang="en-US" sz="1400" b="1" dirty="0">
                <a:solidFill>
                  <a:srgbClr val="FFFFFF"/>
                </a:solidFill>
                <a:latin typeface="Montserrat Bold" pitchFamily="34" charset="0"/>
                <a:ea typeface="Montserrat Bold" pitchFamily="34" charset="-122"/>
                <a:cs typeface="Montserrat Bold" pitchFamily="34" charset="-120"/>
              </a:rPr>
              <a:t>Benefit:</a:t>
            </a:r>
            <a:endParaRPr lang="en-US" sz="1400" dirty="0"/>
          </a:p>
        </p:txBody>
      </p:sp>
      <p:sp>
        <p:nvSpPr>
          <p:cNvPr id="16" name="Text 14"/>
          <p:cNvSpPr/>
          <p:nvPr/>
        </p:nvSpPr>
        <p:spPr>
          <a:xfrm>
            <a:off x="863798" y="7092910"/>
            <a:ext cx="12902803" cy="198596"/>
          </a:xfrm>
          <a:prstGeom prst="rect">
            <a:avLst/>
          </a:prstGeom>
          <a:noFill/>
          <a:ln/>
        </p:spPr>
        <p:txBody>
          <a:bodyPr wrap="none" lIns="0" tIns="0" rIns="0" bIns="0" rtlCol="0" anchor="t"/>
          <a:lstStyle/>
          <a:p>
            <a:pPr marL="0" indent="0" algn="l">
              <a:lnSpc>
                <a:spcPts val="1550"/>
              </a:lnSpc>
              <a:buNone/>
            </a:pPr>
            <a:r>
              <a:rPr lang="en-US" sz="1250" b="1" dirty="0">
                <a:solidFill>
                  <a:srgbClr val="E2E6E9"/>
                </a:solidFill>
                <a:latin typeface="Source Sans 3" pitchFamily="34" charset="0"/>
                <a:ea typeface="Source Sans 3" pitchFamily="34" charset="-122"/>
                <a:cs typeface="Source Sans 3" pitchFamily="34" charset="-120"/>
              </a:rPr>
              <a:t>This helps the model detect suspicious timing patterns in transactions.</a:t>
            </a:r>
            <a:endParaRPr lang="en-US" sz="1250" dirty="0"/>
          </a:p>
        </p:txBody>
      </p:sp>
      <p:pic>
        <p:nvPicPr>
          <p:cNvPr id="18" name="Picture 17">
            <a:extLst>
              <a:ext uri="{FF2B5EF4-FFF2-40B4-BE49-F238E27FC236}">
                <a16:creationId xmlns:a16="http://schemas.microsoft.com/office/drawing/2014/main" id="{3CFBE0E2-2D00-4801-A269-D4CCAEEFD783}"/>
              </a:ext>
            </a:extLst>
          </p:cNvPr>
          <p:cNvPicPr>
            <a:picLocks noChangeAspect="1"/>
          </p:cNvPicPr>
          <p:nvPr/>
        </p:nvPicPr>
        <p:blipFill>
          <a:blip r:embed="rId3"/>
          <a:stretch>
            <a:fillRect/>
          </a:stretch>
        </p:blipFill>
        <p:spPr>
          <a:xfrm>
            <a:off x="10813854" y="7258000"/>
            <a:ext cx="3816546" cy="97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3798" y="919877"/>
            <a:ext cx="4482108" cy="490776"/>
          </a:xfrm>
          <a:prstGeom prst="rect">
            <a:avLst/>
          </a:prstGeom>
          <a:noFill/>
          <a:ln/>
        </p:spPr>
        <p:txBody>
          <a:bodyPr wrap="none" lIns="0" tIns="0" rIns="0" bIns="0" rtlCol="0" anchor="t"/>
          <a:lstStyle/>
          <a:p>
            <a:pPr marL="0" indent="0" algn="l">
              <a:lnSpc>
                <a:spcPts val="3850"/>
              </a:lnSpc>
              <a:buNone/>
            </a:pPr>
            <a:r>
              <a:rPr lang="en-US" sz="3050" b="1" dirty="0">
                <a:solidFill>
                  <a:srgbClr val="FFFFFF"/>
                </a:solidFill>
                <a:latin typeface="Montserrat Bold" pitchFamily="34" charset="0"/>
                <a:ea typeface="Montserrat Bold" pitchFamily="34" charset="-122"/>
                <a:cs typeface="Montserrat Bold" pitchFamily="34" charset="-120"/>
              </a:rPr>
              <a:t>3.Transaction Velocity</a:t>
            </a:r>
            <a:endParaRPr lang="en-US" sz="3050" dirty="0"/>
          </a:p>
        </p:txBody>
      </p:sp>
      <p:sp>
        <p:nvSpPr>
          <p:cNvPr id="3" name="Text 1"/>
          <p:cNvSpPr/>
          <p:nvPr/>
        </p:nvSpPr>
        <p:spPr>
          <a:xfrm>
            <a:off x="863798" y="1458992"/>
            <a:ext cx="6380440" cy="392668"/>
          </a:xfrm>
          <a:prstGeom prst="rect">
            <a:avLst/>
          </a:prstGeom>
          <a:noFill/>
          <a:ln/>
        </p:spPr>
        <p:txBody>
          <a:bodyPr wrap="none" lIns="0" tIns="0" rIns="0" bIns="0" rtlCol="0" anchor="t"/>
          <a:lstStyle/>
          <a:p>
            <a:pPr marL="0" indent="0" algn="l">
              <a:lnSpc>
                <a:spcPts val="3050"/>
              </a:lnSpc>
              <a:buNone/>
            </a:pPr>
            <a:r>
              <a:rPr lang="en-US" sz="2450" b="1" dirty="0">
                <a:solidFill>
                  <a:srgbClr val="FFFFFF"/>
                </a:solidFill>
                <a:latin typeface="Montserrat Bold" pitchFamily="34" charset="0"/>
                <a:ea typeface="Montserrat Bold" pitchFamily="34" charset="-122"/>
                <a:cs typeface="Montserrat Bold" pitchFamily="34" charset="-120"/>
              </a:rPr>
              <a:t>Time Difference Between Transactions</a:t>
            </a:r>
            <a:endParaRPr lang="en-US" sz="2450" dirty="0"/>
          </a:p>
        </p:txBody>
      </p:sp>
      <p:sp>
        <p:nvSpPr>
          <p:cNvPr id="4" name="Shape 2"/>
          <p:cNvSpPr/>
          <p:nvPr/>
        </p:nvSpPr>
        <p:spPr>
          <a:xfrm>
            <a:off x="863798" y="2032992"/>
            <a:ext cx="12902803" cy="1140143"/>
          </a:xfrm>
          <a:prstGeom prst="roundRect">
            <a:avLst>
              <a:gd name="adj" fmla="val 2273"/>
            </a:avLst>
          </a:prstGeom>
          <a:solidFill>
            <a:srgbClr val="1E1F20"/>
          </a:solidFill>
          <a:ln/>
        </p:spPr>
      </p:sp>
      <p:sp>
        <p:nvSpPr>
          <p:cNvPr id="5" name="Shape 3"/>
          <p:cNvSpPr/>
          <p:nvPr/>
        </p:nvSpPr>
        <p:spPr>
          <a:xfrm>
            <a:off x="855226" y="2032992"/>
            <a:ext cx="12919948" cy="1140143"/>
          </a:xfrm>
          <a:prstGeom prst="roundRect">
            <a:avLst>
              <a:gd name="adj" fmla="val 2273"/>
            </a:avLst>
          </a:prstGeom>
          <a:solidFill>
            <a:srgbClr val="1E1F20"/>
          </a:solidFill>
          <a:ln/>
        </p:spPr>
      </p:sp>
      <p:sp>
        <p:nvSpPr>
          <p:cNvPr id="6" name="Text 4"/>
          <p:cNvSpPr/>
          <p:nvPr/>
        </p:nvSpPr>
        <p:spPr>
          <a:xfrm>
            <a:off x="1027986" y="2162532"/>
            <a:ext cx="12574429" cy="881063"/>
          </a:xfrm>
          <a:prstGeom prst="rect">
            <a:avLst/>
          </a:prstGeom>
          <a:noFill/>
          <a:ln/>
        </p:spPr>
        <p:txBody>
          <a:bodyPr wrap="square" lIns="0" tIns="0" rIns="0" bIns="0" rtlCol="0" anchor="t"/>
          <a:lstStyle/>
          <a:p>
            <a:pPr marL="0" indent="0" algn="l">
              <a:lnSpc>
                <a:spcPts val="1700"/>
              </a:lnSpc>
              <a:buNone/>
            </a:pPr>
            <a:r>
              <a:rPr lang="en-US" sz="1350" dirty="0">
                <a:solidFill>
                  <a:srgbClr val="E2E6E9"/>
                </a:solidFill>
                <a:highlight>
                  <a:srgbClr val="1E1F20"/>
                </a:highlight>
                <a:latin typeface="Consolas" pitchFamily="34" charset="0"/>
                <a:ea typeface="Consolas" pitchFamily="34" charset="-122"/>
                <a:cs typeface="Consolas" pitchFamily="34" charset="-120"/>
              </a:rPr>
              <a:t>train = train.sort_values(['card1', 'TransactionDT'])</a:t>
            </a:r>
            <a:endParaRPr lang="en-US" sz="1350" dirty="0"/>
          </a:p>
          <a:p>
            <a:pPr marL="0" indent="0" algn="l">
              <a:lnSpc>
                <a:spcPts val="1700"/>
              </a:lnSpc>
              <a:buNone/>
            </a:pPr>
            <a:r>
              <a:rPr lang="en-US" sz="1350" dirty="0">
                <a:solidFill>
                  <a:srgbClr val="E2E6E9"/>
                </a:solidFill>
                <a:highlight>
                  <a:srgbClr val="1E1F20"/>
                </a:highlight>
                <a:latin typeface="Consolas" pitchFamily="34" charset="0"/>
                <a:ea typeface="Consolas" pitchFamily="34" charset="-122"/>
                <a:cs typeface="Consolas" pitchFamily="34" charset="-120"/>
              </a:rPr>
              <a:t>train['time_diff'] = train.groupby('card1')['TransactionDT'].diff().dt.total_seconds()</a:t>
            </a:r>
            <a:endParaRPr lang="en-US" sz="1350" dirty="0"/>
          </a:p>
          <a:p>
            <a:pPr marL="0" indent="0" algn="l">
              <a:lnSpc>
                <a:spcPts val="1700"/>
              </a:lnSpc>
              <a:buNone/>
            </a:pPr>
            <a:r>
              <a:rPr lang="en-US" sz="1350" dirty="0">
                <a:solidFill>
                  <a:srgbClr val="E2E6E9"/>
                </a:solidFill>
                <a:highlight>
                  <a:srgbClr val="1E1F20"/>
                </a:highlight>
                <a:latin typeface="Consolas" pitchFamily="34" charset="0"/>
                <a:ea typeface="Consolas" pitchFamily="34" charset="-122"/>
                <a:cs typeface="Consolas" pitchFamily="34" charset="-120"/>
              </a:rPr>
              <a:t>train['time_diff'] = train['time_diff'].fillna(-1)</a:t>
            </a:r>
            <a:endParaRPr lang="en-US" sz="1350" dirty="0"/>
          </a:p>
          <a:p>
            <a:pPr marL="0" indent="0" algn="l">
              <a:lnSpc>
                <a:spcPts val="1700"/>
              </a:lnSpc>
              <a:buNone/>
            </a:pPr>
            <a:r>
              <a:rPr lang="en-US" sz="1350" dirty="0">
                <a:solidFill>
                  <a:srgbClr val="E2E6E9"/>
                </a:solidFill>
                <a:highlight>
                  <a:srgbClr val="1E1F20"/>
                </a:highlight>
                <a:latin typeface="Consolas" pitchFamily="34" charset="0"/>
                <a:ea typeface="Consolas" pitchFamily="34" charset="-122"/>
                <a:cs typeface="Consolas" pitchFamily="34" charset="-120"/>
              </a:rPr>
              <a:t>    </a:t>
            </a:r>
            <a:endParaRPr lang="en-US" sz="1350" dirty="0"/>
          </a:p>
        </p:txBody>
      </p:sp>
      <p:sp>
        <p:nvSpPr>
          <p:cNvPr id="7" name="Text 5"/>
          <p:cNvSpPr/>
          <p:nvPr/>
        </p:nvSpPr>
        <p:spPr>
          <a:xfrm>
            <a:off x="863798" y="3354467"/>
            <a:ext cx="2356009" cy="294442"/>
          </a:xfrm>
          <a:prstGeom prst="rect">
            <a:avLst/>
          </a:prstGeom>
          <a:noFill/>
          <a:ln/>
        </p:spPr>
        <p:txBody>
          <a:bodyPr wrap="none" lIns="0" tIns="0" rIns="0" bIns="0" rtlCol="0" anchor="t"/>
          <a:lstStyle/>
          <a:p>
            <a:pPr marL="0" indent="0" algn="l">
              <a:lnSpc>
                <a:spcPts val="2300"/>
              </a:lnSpc>
              <a:buNone/>
            </a:pPr>
            <a:r>
              <a:rPr lang="en-US" sz="1850" b="1" dirty="0">
                <a:solidFill>
                  <a:srgbClr val="FFFFFF"/>
                </a:solidFill>
                <a:latin typeface="Montserrat Bold" pitchFamily="34" charset="0"/>
                <a:ea typeface="Montserrat Bold" pitchFamily="34" charset="-122"/>
                <a:cs typeface="Montserrat Bold" pitchFamily="34" charset="-120"/>
              </a:rPr>
              <a:t>Explanation:</a:t>
            </a:r>
            <a:endParaRPr lang="en-US" sz="1850" dirty="0"/>
          </a:p>
        </p:txBody>
      </p:sp>
      <p:sp>
        <p:nvSpPr>
          <p:cNvPr id="8" name="Text 6"/>
          <p:cNvSpPr/>
          <p:nvPr/>
        </p:nvSpPr>
        <p:spPr>
          <a:xfrm>
            <a:off x="863798" y="3830241"/>
            <a:ext cx="12902803" cy="220266"/>
          </a:xfrm>
          <a:prstGeom prst="rect">
            <a:avLst/>
          </a:prstGeom>
          <a:noFill/>
          <a:ln/>
        </p:spPr>
        <p:txBody>
          <a:bodyPr wrap="none" lIns="0" tIns="0" rIns="0" bIns="0" rtlCol="0" anchor="t"/>
          <a:lstStyle/>
          <a:p>
            <a:pPr marL="0" indent="0" algn="l">
              <a:lnSpc>
                <a:spcPts val="1700"/>
              </a:lnSpc>
              <a:buNone/>
            </a:pPr>
            <a:r>
              <a:rPr lang="en-US" sz="1350" dirty="0">
                <a:solidFill>
                  <a:srgbClr val="E2E6E9"/>
                </a:solidFill>
                <a:latin typeface="Source Sans 3" pitchFamily="34" charset="0"/>
                <a:ea typeface="Source Sans 3" pitchFamily="34" charset="-122"/>
                <a:cs typeface="Source Sans 3" pitchFamily="34" charset="-120"/>
              </a:rPr>
              <a:t>We sorted transactions by card number and time.</a:t>
            </a:r>
            <a:endParaRPr lang="en-US" sz="1350" dirty="0"/>
          </a:p>
        </p:txBody>
      </p:sp>
      <p:sp>
        <p:nvSpPr>
          <p:cNvPr id="9" name="Text 7"/>
          <p:cNvSpPr/>
          <p:nvPr/>
        </p:nvSpPr>
        <p:spPr>
          <a:xfrm>
            <a:off x="863798" y="4186476"/>
            <a:ext cx="12902803" cy="220266"/>
          </a:xfrm>
          <a:prstGeom prst="rect">
            <a:avLst/>
          </a:prstGeom>
          <a:noFill/>
          <a:ln/>
        </p:spPr>
        <p:txBody>
          <a:bodyPr wrap="none" lIns="0" tIns="0" rIns="0" bIns="0" rtlCol="0" anchor="t"/>
          <a:lstStyle/>
          <a:p>
            <a:pPr marL="0" indent="0" algn="l">
              <a:lnSpc>
                <a:spcPts val="1700"/>
              </a:lnSpc>
              <a:buNone/>
            </a:pPr>
            <a:r>
              <a:rPr lang="en-US" sz="1350" dirty="0">
                <a:solidFill>
                  <a:srgbClr val="E2E6E9"/>
                </a:solidFill>
                <a:latin typeface="Source Sans 3" pitchFamily="34" charset="0"/>
                <a:ea typeface="Source Sans 3" pitchFamily="34" charset="-122"/>
                <a:cs typeface="Source Sans 3" pitchFamily="34" charset="-120"/>
              </a:rPr>
              <a:t>Then we calculated how many seconds passed between consecutive transactions for the same card.</a:t>
            </a:r>
            <a:endParaRPr lang="en-US" sz="1350" dirty="0"/>
          </a:p>
        </p:txBody>
      </p:sp>
      <p:sp>
        <p:nvSpPr>
          <p:cNvPr id="10" name="Text 8"/>
          <p:cNvSpPr/>
          <p:nvPr/>
        </p:nvSpPr>
        <p:spPr>
          <a:xfrm>
            <a:off x="863798" y="4588073"/>
            <a:ext cx="2356009" cy="294442"/>
          </a:xfrm>
          <a:prstGeom prst="rect">
            <a:avLst/>
          </a:prstGeom>
          <a:noFill/>
          <a:ln/>
        </p:spPr>
        <p:txBody>
          <a:bodyPr wrap="none" lIns="0" tIns="0" rIns="0" bIns="0" rtlCol="0" anchor="t"/>
          <a:lstStyle/>
          <a:p>
            <a:pPr marL="0" indent="0" algn="l">
              <a:lnSpc>
                <a:spcPts val="2300"/>
              </a:lnSpc>
              <a:buNone/>
            </a:pPr>
            <a:r>
              <a:rPr lang="en-US" sz="1850" b="1" dirty="0">
                <a:solidFill>
                  <a:srgbClr val="FFFFFF"/>
                </a:solidFill>
                <a:latin typeface="Montserrat Bold" pitchFamily="34" charset="0"/>
                <a:ea typeface="Montserrat Bold" pitchFamily="34" charset="-122"/>
                <a:cs typeface="Montserrat Bold" pitchFamily="34" charset="-120"/>
              </a:rPr>
              <a:t>Logic:</a:t>
            </a:r>
            <a:endParaRPr lang="en-US" sz="1850" dirty="0"/>
          </a:p>
        </p:txBody>
      </p:sp>
      <p:sp>
        <p:nvSpPr>
          <p:cNvPr id="11" name="Text 9"/>
          <p:cNvSpPr/>
          <p:nvPr/>
        </p:nvSpPr>
        <p:spPr>
          <a:xfrm>
            <a:off x="863798" y="5184696"/>
            <a:ext cx="1963341" cy="245388"/>
          </a:xfrm>
          <a:prstGeom prst="rect">
            <a:avLst/>
          </a:prstGeom>
          <a:noFill/>
          <a:ln/>
        </p:spPr>
        <p:txBody>
          <a:bodyPr wrap="none" lIns="0" tIns="0" rIns="0" bIns="0" rtlCol="0" anchor="t"/>
          <a:lstStyle/>
          <a:p>
            <a:pPr marL="0" indent="0" algn="l">
              <a:lnSpc>
                <a:spcPts val="1900"/>
              </a:lnSpc>
              <a:buNone/>
            </a:pPr>
            <a:r>
              <a:rPr lang="en-US" sz="1500" b="1" dirty="0">
                <a:solidFill>
                  <a:srgbClr val="FFFFFF"/>
                </a:solidFill>
                <a:latin typeface="Montserrat Bold" pitchFamily="34" charset="0"/>
                <a:ea typeface="Montserrat Bold" pitchFamily="34" charset="-122"/>
                <a:cs typeface="Montserrat Bold" pitchFamily="34" charset="-120"/>
              </a:rPr>
              <a:t>Normal users:</a:t>
            </a:r>
            <a:endParaRPr lang="en-US" sz="1500" dirty="0"/>
          </a:p>
        </p:txBody>
      </p:sp>
      <p:sp>
        <p:nvSpPr>
          <p:cNvPr id="12" name="Text 10"/>
          <p:cNvSpPr/>
          <p:nvPr/>
        </p:nvSpPr>
        <p:spPr>
          <a:xfrm>
            <a:off x="863798" y="5550932"/>
            <a:ext cx="6240661" cy="482798"/>
          </a:xfrm>
          <a:prstGeom prst="rect">
            <a:avLst/>
          </a:prstGeom>
          <a:noFill/>
          <a:ln/>
        </p:spPr>
        <p:txBody>
          <a:bodyPr wrap="square" lIns="0" tIns="0" rIns="0" bIns="0" rtlCol="0" anchor="t"/>
          <a:lstStyle/>
          <a:p>
            <a:pPr marL="342900" indent="-342900" algn="l">
              <a:lnSpc>
                <a:spcPts val="1700"/>
              </a:lnSpc>
              <a:buSzPct val="100000"/>
              <a:buChar char="•"/>
            </a:pPr>
            <a:r>
              <a:rPr lang="en-US" sz="1350" dirty="0">
                <a:solidFill>
                  <a:srgbClr val="E2E6E9"/>
                </a:solidFill>
                <a:latin typeface="Source Sans 3" pitchFamily="34" charset="0"/>
                <a:ea typeface="Source Sans 3" pitchFamily="34" charset="-122"/>
                <a:cs typeface="Source Sans 3" pitchFamily="34" charset="-120"/>
              </a:rPr>
              <a:t>Buy occasionally</a:t>
            </a:r>
            <a:endParaRPr lang="en-US" sz="1350" dirty="0"/>
          </a:p>
          <a:p>
            <a:pPr marL="342900" indent="-342900" algn="l">
              <a:lnSpc>
                <a:spcPts val="1700"/>
              </a:lnSpc>
              <a:buSzPct val="100000"/>
              <a:buChar char="•"/>
            </a:pPr>
            <a:r>
              <a:rPr lang="en-US" sz="1350" dirty="0">
                <a:solidFill>
                  <a:srgbClr val="E2E6E9"/>
                </a:solidFill>
                <a:latin typeface="Source Sans 3" pitchFamily="34" charset="0"/>
                <a:ea typeface="Source Sans 3" pitchFamily="34" charset="-122"/>
                <a:cs typeface="Source Sans 3" pitchFamily="34" charset="-120"/>
              </a:rPr>
              <a:t>Take hours or days between purchases</a:t>
            </a:r>
            <a:endParaRPr lang="en-US" sz="1350" dirty="0"/>
          </a:p>
        </p:txBody>
      </p:sp>
      <p:sp>
        <p:nvSpPr>
          <p:cNvPr id="13" name="Text 11"/>
          <p:cNvSpPr/>
          <p:nvPr/>
        </p:nvSpPr>
        <p:spPr>
          <a:xfrm>
            <a:off x="7533561" y="5184696"/>
            <a:ext cx="1963341" cy="245388"/>
          </a:xfrm>
          <a:prstGeom prst="rect">
            <a:avLst/>
          </a:prstGeom>
          <a:noFill/>
          <a:ln/>
        </p:spPr>
        <p:txBody>
          <a:bodyPr wrap="none" lIns="0" tIns="0" rIns="0" bIns="0" rtlCol="0" anchor="t"/>
          <a:lstStyle/>
          <a:p>
            <a:pPr marL="0" indent="0" algn="l">
              <a:lnSpc>
                <a:spcPts val="1900"/>
              </a:lnSpc>
              <a:buNone/>
            </a:pPr>
            <a:r>
              <a:rPr lang="en-US" sz="1500" b="1" dirty="0">
                <a:solidFill>
                  <a:srgbClr val="FFFFFF"/>
                </a:solidFill>
                <a:latin typeface="Montserrat Bold" pitchFamily="34" charset="0"/>
                <a:ea typeface="Montserrat Bold" pitchFamily="34" charset="-122"/>
                <a:cs typeface="Montserrat Bold" pitchFamily="34" charset="-120"/>
              </a:rPr>
              <a:t>Fraudsters:</a:t>
            </a:r>
            <a:endParaRPr lang="en-US" sz="1500" dirty="0"/>
          </a:p>
        </p:txBody>
      </p:sp>
      <p:sp>
        <p:nvSpPr>
          <p:cNvPr id="14" name="Text 12"/>
          <p:cNvSpPr/>
          <p:nvPr/>
        </p:nvSpPr>
        <p:spPr>
          <a:xfrm>
            <a:off x="7533561" y="5550932"/>
            <a:ext cx="6240661" cy="482798"/>
          </a:xfrm>
          <a:prstGeom prst="rect">
            <a:avLst/>
          </a:prstGeom>
          <a:noFill/>
          <a:ln/>
        </p:spPr>
        <p:txBody>
          <a:bodyPr wrap="square" lIns="0" tIns="0" rIns="0" bIns="0" rtlCol="0" anchor="t"/>
          <a:lstStyle/>
          <a:p>
            <a:pPr marL="342900" indent="-342900" algn="l">
              <a:lnSpc>
                <a:spcPts val="1700"/>
              </a:lnSpc>
              <a:buSzPct val="100000"/>
              <a:buChar char="•"/>
            </a:pPr>
            <a:r>
              <a:rPr lang="en-US" sz="1350" dirty="0">
                <a:solidFill>
                  <a:srgbClr val="E2E6E9"/>
                </a:solidFill>
                <a:latin typeface="Source Sans 3" pitchFamily="34" charset="0"/>
                <a:ea typeface="Source Sans 3" pitchFamily="34" charset="-122"/>
                <a:cs typeface="Source Sans 3" pitchFamily="34" charset="-120"/>
              </a:rPr>
              <a:t>Try many transactions quickly</a:t>
            </a:r>
            <a:endParaRPr lang="en-US" sz="1350" dirty="0"/>
          </a:p>
          <a:p>
            <a:pPr marL="342900" indent="-342900" algn="l">
              <a:lnSpc>
                <a:spcPts val="1700"/>
              </a:lnSpc>
              <a:buSzPct val="100000"/>
              <a:buChar char="•"/>
            </a:pPr>
            <a:r>
              <a:rPr lang="en-US" sz="1350" dirty="0">
                <a:solidFill>
                  <a:srgbClr val="E2E6E9"/>
                </a:solidFill>
                <a:latin typeface="Source Sans 3" pitchFamily="34" charset="0"/>
                <a:ea typeface="Source Sans 3" pitchFamily="34" charset="-122"/>
                <a:cs typeface="Source Sans 3" pitchFamily="34" charset="-120"/>
              </a:rPr>
              <a:t>Before the card gets blocked</a:t>
            </a:r>
            <a:endParaRPr lang="en-US" sz="1350" dirty="0"/>
          </a:p>
        </p:txBody>
      </p:sp>
      <p:sp>
        <p:nvSpPr>
          <p:cNvPr id="15" name="Text 13"/>
          <p:cNvSpPr/>
          <p:nvPr/>
        </p:nvSpPr>
        <p:spPr>
          <a:xfrm>
            <a:off x="863798" y="6211967"/>
            <a:ext cx="12902803" cy="220266"/>
          </a:xfrm>
          <a:prstGeom prst="rect">
            <a:avLst/>
          </a:prstGeom>
          <a:noFill/>
          <a:ln/>
        </p:spPr>
        <p:txBody>
          <a:bodyPr wrap="none" lIns="0" tIns="0" rIns="0" bIns="0" rtlCol="0" anchor="t"/>
          <a:lstStyle/>
          <a:p>
            <a:pPr marL="0" indent="0" algn="l">
              <a:lnSpc>
                <a:spcPts val="1700"/>
              </a:lnSpc>
              <a:buNone/>
            </a:pPr>
            <a:r>
              <a:rPr lang="en-US" sz="1350" dirty="0">
                <a:solidFill>
                  <a:srgbClr val="E2E6E9"/>
                </a:solidFill>
                <a:latin typeface="Source Sans 3" pitchFamily="34" charset="0"/>
                <a:ea typeface="Source Sans 3" pitchFamily="34" charset="-122"/>
                <a:cs typeface="Source Sans 3" pitchFamily="34" charset="-120"/>
              </a:rPr>
              <a:t>This measures transaction "speed".</a:t>
            </a:r>
            <a:endParaRPr lang="en-US" sz="1350" dirty="0"/>
          </a:p>
        </p:txBody>
      </p:sp>
      <p:sp>
        <p:nvSpPr>
          <p:cNvPr id="16" name="Text 14"/>
          <p:cNvSpPr/>
          <p:nvPr/>
        </p:nvSpPr>
        <p:spPr>
          <a:xfrm>
            <a:off x="863798" y="6613565"/>
            <a:ext cx="2356009" cy="294442"/>
          </a:xfrm>
          <a:prstGeom prst="rect">
            <a:avLst/>
          </a:prstGeom>
          <a:noFill/>
          <a:ln/>
        </p:spPr>
        <p:txBody>
          <a:bodyPr wrap="none" lIns="0" tIns="0" rIns="0" bIns="0" rtlCol="0" anchor="t"/>
          <a:lstStyle/>
          <a:p>
            <a:pPr marL="0" indent="0" algn="l">
              <a:lnSpc>
                <a:spcPts val="2300"/>
              </a:lnSpc>
              <a:buNone/>
            </a:pPr>
            <a:r>
              <a:rPr lang="en-US" sz="1850" b="1" dirty="0">
                <a:solidFill>
                  <a:srgbClr val="FFFFFF"/>
                </a:solidFill>
                <a:latin typeface="Montserrat Bold" pitchFamily="34" charset="0"/>
                <a:ea typeface="Montserrat Bold" pitchFamily="34" charset="-122"/>
                <a:cs typeface="Montserrat Bold" pitchFamily="34" charset="-120"/>
              </a:rPr>
              <a:t>Benefit:</a:t>
            </a:r>
            <a:endParaRPr lang="en-US" sz="1850" dirty="0"/>
          </a:p>
        </p:txBody>
      </p:sp>
      <p:sp>
        <p:nvSpPr>
          <p:cNvPr id="17" name="Text 15"/>
          <p:cNvSpPr/>
          <p:nvPr/>
        </p:nvSpPr>
        <p:spPr>
          <a:xfrm>
            <a:off x="863798" y="7089338"/>
            <a:ext cx="12902803" cy="220266"/>
          </a:xfrm>
          <a:prstGeom prst="rect">
            <a:avLst/>
          </a:prstGeom>
          <a:noFill/>
          <a:ln/>
        </p:spPr>
        <p:txBody>
          <a:bodyPr wrap="none" lIns="0" tIns="0" rIns="0" bIns="0" rtlCol="0" anchor="t"/>
          <a:lstStyle/>
          <a:p>
            <a:pPr marL="0" indent="0" algn="l">
              <a:lnSpc>
                <a:spcPts val="1700"/>
              </a:lnSpc>
              <a:buNone/>
            </a:pPr>
            <a:r>
              <a:rPr lang="en-US" sz="1350" b="1" dirty="0">
                <a:solidFill>
                  <a:srgbClr val="E2E6E9"/>
                </a:solidFill>
                <a:latin typeface="Source Sans 3" pitchFamily="34" charset="0"/>
                <a:ea typeface="Source Sans 3" pitchFamily="34" charset="-122"/>
                <a:cs typeface="Source Sans 3" pitchFamily="34" charset="-120"/>
              </a:rPr>
              <a:t>It creates a powerful velocity feature that catches rapid fraud attacks.</a:t>
            </a:r>
            <a:endParaRPr lang="en-US" sz="1350" dirty="0"/>
          </a:p>
        </p:txBody>
      </p:sp>
      <p:pic>
        <p:nvPicPr>
          <p:cNvPr id="19" name="Picture 18">
            <a:extLst>
              <a:ext uri="{FF2B5EF4-FFF2-40B4-BE49-F238E27FC236}">
                <a16:creationId xmlns:a16="http://schemas.microsoft.com/office/drawing/2014/main" id="{00B32937-3281-4F22-ADD4-DE285C5A3576}"/>
              </a:ext>
            </a:extLst>
          </p:cNvPr>
          <p:cNvPicPr>
            <a:picLocks noChangeAspect="1"/>
          </p:cNvPicPr>
          <p:nvPr/>
        </p:nvPicPr>
        <p:blipFill>
          <a:blip r:embed="rId3"/>
          <a:stretch>
            <a:fillRect/>
          </a:stretch>
        </p:blipFill>
        <p:spPr>
          <a:xfrm>
            <a:off x="10813854" y="7236314"/>
            <a:ext cx="3816546" cy="97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63798" y="802481"/>
            <a:ext cx="8477845" cy="560903"/>
          </a:xfrm>
          <a:prstGeom prst="rect">
            <a:avLst/>
          </a:prstGeom>
          <a:noFill/>
          <a:ln/>
        </p:spPr>
        <p:txBody>
          <a:bodyPr wrap="none" lIns="0" tIns="0" rIns="0" bIns="0" rtlCol="0" anchor="t"/>
          <a:lstStyle/>
          <a:p>
            <a:pPr marL="0" indent="0" algn="l">
              <a:lnSpc>
                <a:spcPts val="4400"/>
              </a:lnSpc>
              <a:buNone/>
            </a:pPr>
            <a:r>
              <a:rPr lang="en-US" sz="3500" b="1" dirty="0">
                <a:solidFill>
                  <a:srgbClr val="FFFFFF"/>
                </a:solidFill>
                <a:latin typeface="Montserrat Bold" pitchFamily="34" charset="0"/>
                <a:ea typeface="Montserrat Bold" pitchFamily="34" charset="-122"/>
                <a:cs typeface="Montserrat Bold" pitchFamily="34" charset="-120"/>
              </a:rPr>
              <a:t>4.Spending Behavior &amp; User Profiles</a:t>
            </a:r>
            <a:endParaRPr lang="en-US" sz="3500" dirty="0"/>
          </a:p>
        </p:txBody>
      </p:sp>
      <p:sp>
        <p:nvSpPr>
          <p:cNvPr id="3" name="Text 1"/>
          <p:cNvSpPr/>
          <p:nvPr/>
        </p:nvSpPr>
        <p:spPr>
          <a:xfrm>
            <a:off x="863798" y="1426488"/>
            <a:ext cx="4666655" cy="448628"/>
          </a:xfrm>
          <a:prstGeom prst="rect">
            <a:avLst/>
          </a:prstGeom>
          <a:noFill/>
          <a:ln/>
        </p:spPr>
        <p:txBody>
          <a:bodyPr wrap="none" lIns="0" tIns="0" rIns="0" bIns="0" rtlCol="0" anchor="t"/>
          <a:lstStyle/>
          <a:p>
            <a:pPr marL="0" indent="0" algn="l">
              <a:lnSpc>
                <a:spcPts val="3500"/>
              </a:lnSpc>
              <a:buNone/>
            </a:pPr>
            <a:r>
              <a:rPr lang="en-US" sz="2800" b="1" dirty="0">
                <a:solidFill>
                  <a:srgbClr val="FFFFFF"/>
                </a:solidFill>
                <a:latin typeface="Montserrat Bold" pitchFamily="34" charset="0"/>
                <a:ea typeface="Montserrat Bold" pitchFamily="34" charset="-122"/>
                <a:cs typeface="Montserrat Bold" pitchFamily="34" charset="-120"/>
              </a:rPr>
              <a:t>Card-Level Aggregations</a:t>
            </a:r>
            <a:endParaRPr lang="en-US" sz="2800" dirty="0"/>
          </a:p>
        </p:txBody>
      </p:sp>
      <p:sp>
        <p:nvSpPr>
          <p:cNvPr id="4" name="Shape 2"/>
          <p:cNvSpPr/>
          <p:nvPr/>
        </p:nvSpPr>
        <p:spPr>
          <a:xfrm>
            <a:off x="863798" y="2112050"/>
            <a:ext cx="12902803" cy="1628894"/>
          </a:xfrm>
          <a:prstGeom prst="roundRect">
            <a:avLst>
              <a:gd name="adj" fmla="val 1818"/>
            </a:avLst>
          </a:prstGeom>
          <a:solidFill>
            <a:srgbClr val="1E1F20"/>
          </a:solidFill>
          <a:ln/>
        </p:spPr>
      </p:sp>
      <p:sp>
        <p:nvSpPr>
          <p:cNvPr id="5" name="Shape 3"/>
          <p:cNvSpPr/>
          <p:nvPr/>
        </p:nvSpPr>
        <p:spPr>
          <a:xfrm>
            <a:off x="854035" y="2112050"/>
            <a:ext cx="12922329" cy="1628894"/>
          </a:xfrm>
          <a:prstGeom prst="roundRect">
            <a:avLst>
              <a:gd name="adj" fmla="val 1818"/>
            </a:avLst>
          </a:prstGeom>
          <a:solidFill>
            <a:srgbClr val="1E1F20"/>
          </a:solidFill>
          <a:ln/>
        </p:spPr>
      </p:sp>
      <p:sp>
        <p:nvSpPr>
          <p:cNvPr id="6" name="Text 4"/>
          <p:cNvSpPr/>
          <p:nvPr/>
        </p:nvSpPr>
        <p:spPr>
          <a:xfrm>
            <a:off x="1051441" y="2260044"/>
            <a:ext cx="12527518" cy="1332905"/>
          </a:xfrm>
          <a:prstGeom prst="rect">
            <a:avLst/>
          </a:prstGeom>
          <a:noFill/>
          <a:ln/>
        </p:spPr>
        <p:txBody>
          <a:bodyPr wrap="square" lIns="0" tIns="0" rIns="0" bIns="0" rtlCol="0" anchor="t"/>
          <a:lstStyle/>
          <a:p>
            <a:pPr marL="0" indent="0" algn="l">
              <a:lnSpc>
                <a:spcPts val="2050"/>
              </a:lnSpc>
              <a:buNone/>
            </a:pPr>
            <a:r>
              <a:rPr lang="en-US" sz="1550" dirty="0">
                <a:solidFill>
                  <a:srgbClr val="E2E6E9"/>
                </a:solidFill>
                <a:highlight>
                  <a:srgbClr val="1E1F20"/>
                </a:highlight>
                <a:latin typeface="Consolas" pitchFamily="34" charset="0"/>
                <a:ea typeface="Consolas" pitchFamily="34" charset="-122"/>
                <a:cs typeface="Consolas" pitchFamily="34" charset="-120"/>
              </a:rPr>
              <a:t>agg_funcs = ['count', 'mean', 'std']</a:t>
            </a:r>
            <a:endParaRPr lang="en-US" sz="1550" dirty="0"/>
          </a:p>
          <a:p>
            <a:pPr marL="0" indent="0" algn="l">
              <a:lnSpc>
                <a:spcPts val="2050"/>
              </a:lnSpc>
              <a:buNone/>
            </a:pPr>
            <a:r>
              <a:rPr lang="en-US" sz="1550" dirty="0">
                <a:solidFill>
                  <a:srgbClr val="E2E6E9"/>
                </a:solidFill>
                <a:highlight>
                  <a:srgbClr val="1E1F20"/>
                </a:highlight>
                <a:latin typeface="Consolas" pitchFamily="34" charset="0"/>
                <a:ea typeface="Consolas" pitchFamily="34" charset="-122"/>
                <a:cs typeface="Consolas" pitchFamily="34" charset="-120"/>
              </a:rPr>
              <a:t>for col in ['card1', 'card2']:</a:t>
            </a:r>
            <a:endParaRPr lang="en-US" sz="1550" dirty="0"/>
          </a:p>
          <a:p>
            <a:pPr marL="0" indent="0" algn="l">
              <a:lnSpc>
                <a:spcPts val="2050"/>
              </a:lnSpc>
              <a:buNone/>
            </a:pPr>
            <a:r>
              <a:rPr lang="en-US" sz="1550" dirty="0">
                <a:solidFill>
                  <a:srgbClr val="E2E6E9"/>
                </a:solidFill>
                <a:highlight>
                  <a:srgbClr val="1E1F20"/>
                </a:highlight>
                <a:latin typeface="Consolas" pitchFamily="34" charset="0"/>
                <a:ea typeface="Consolas" pitchFamily="34" charset="-122"/>
                <a:cs typeface="Consolas" pitchFamily="34" charset="-120"/>
              </a:rPr>
              <a:t>    for func in agg_funcs:</a:t>
            </a:r>
            <a:endParaRPr lang="en-US" sz="1550" dirty="0"/>
          </a:p>
          <a:p>
            <a:pPr marL="0" indent="0" algn="l">
              <a:lnSpc>
                <a:spcPts val="2050"/>
              </a:lnSpc>
              <a:buNone/>
            </a:pPr>
            <a:r>
              <a:rPr lang="en-US" sz="1550" dirty="0">
                <a:solidFill>
                  <a:srgbClr val="E2E6E9"/>
                </a:solidFill>
                <a:highlight>
                  <a:srgbClr val="1E1F20"/>
                </a:highlight>
                <a:latin typeface="Consolas" pitchFamily="34" charset="0"/>
                <a:ea typeface="Consolas" pitchFamily="34" charset="-122"/>
                <a:cs typeface="Consolas" pitchFamily="34" charset="-120"/>
              </a:rPr>
              <a:t>        train[f'{col}_{func}_amt'] = train.groupby(col)['TransactionAmt'].transform(func)</a:t>
            </a:r>
            <a:endParaRPr lang="en-US" sz="1550" dirty="0"/>
          </a:p>
          <a:p>
            <a:pPr marL="0" indent="0" algn="l">
              <a:lnSpc>
                <a:spcPts val="2050"/>
              </a:lnSpc>
              <a:buNone/>
            </a:pPr>
            <a:r>
              <a:rPr lang="en-US" sz="1550" dirty="0">
                <a:solidFill>
                  <a:srgbClr val="E2E6E9"/>
                </a:solidFill>
                <a:highlight>
                  <a:srgbClr val="1E1F20"/>
                </a:highlight>
                <a:latin typeface="Consolas" pitchFamily="34" charset="0"/>
                <a:ea typeface="Consolas" pitchFamily="34" charset="-122"/>
                <a:cs typeface="Consolas" pitchFamily="34" charset="-120"/>
              </a:rPr>
              <a:t>    </a:t>
            </a:r>
            <a:endParaRPr lang="en-US" sz="1550" dirty="0"/>
          </a:p>
        </p:txBody>
      </p:sp>
      <p:sp>
        <p:nvSpPr>
          <p:cNvPr id="7" name="Text 5"/>
          <p:cNvSpPr/>
          <p:nvPr/>
        </p:nvSpPr>
        <p:spPr>
          <a:xfrm>
            <a:off x="863798" y="3977878"/>
            <a:ext cx="2692598" cy="336590"/>
          </a:xfrm>
          <a:prstGeom prst="rect">
            <a:avLst/>
          </a:prstGeom>
          <a:noFill/>
          <a:ln/>
        </p:spPr>
        <p:txBody>
          <a:bodyPr wrap="none" lIns="0" tIns="0" rIns="0" bIns="0" rtlCol="0" anchor="t"/>
          <a:lstStyle/>
          <a:p>
            <a:pPr marL="0" indent="0" algn="l">
              <a:lnSpc>
                <a:spcPts val="2650"/>
              </a:lnSpc>
              <a:buNone/>
            </a:pPr>
            <a:r>
              <a:rPr lang="en-US" sz="2100" b="1" dirty="0">
                <a:solidFill>
                  <a:srgbClr val="FFFFFF"/>
                </a:solidFill>
                <a:latin typeface="Montserrat Bold" pitchFamily="34" charset="0"/>
                <a:ea typeface="Montserrat Bold" pitchFamily="34" charset="-122"/>
                <a:cs typeface="Montserrat Bold" pitchFamily="34" charset="-120"/>
              </a:rPr>
              <a:t>Explanation:</a:t>
            </a:r>
            <a:endParaRPr lang="en-US" sz="2100" dirty="0"/>
          </a:p>
        </p:txBody>
      </p:sp>
      <p:sp>
        <p:nvSpPr>
          <p:cNvPr id="8" name="Text 6"/>
          <p:cNvSpPr/>
          <p:nvPr/>
        </p:nvSpPr>
        <p:spPr>
          <a:xfrm>
            <a:off x="863798" y="4551402"/>
            <a:ext cx="12902803" cy="266581"/>
          </a:xfrm>
          <a:prstGeom prst="rect">
            <a:avLst/>
          </a:prstGeom>
          <a:noFill/>
          <a:ln/>
        </p:spPr>
        <p:txBody>
          <a:bodyPr wrap="none" lIns="0" tIns="0" rIns="0" bIns="0" rtlCol="0" anchor="t"/>
          <a:lstStyle/>
          <a:p>
            <a:pPr marL="0" indent="0" algn="l">
              <a:lnSpc>
                <a:spcPts val="2050"/>
              </a:lnSpc>
              <a:buNone/>
            </a:pPr>
            <a:r>
              <a:rPr lang="en-US" sz="1550" dirty="0">
                <a:solidFill>
                  <a:srgbClr val="E2E6E9"/>
                </a:solidFill>
                <a:latin typeface="Source Sans 3" pitchFamily="34" charset="0"/>
                <a:ea typeface="Source Sans 3" pitchFamily="34" charset="-122"/>
                <a:cs typeface="Source Sans 3" pitchFamily="34" charset="-120"/>
              </a:rPr>
              <a:t>For each card, we calculated:</a:t>
            </a:r>
            <a:endParaRPr lang="en-US" sz="1550" dirty="0"/>
          </a:p>
        </p:txBody>
      </p:sp>
      <p:sp>
        <p:nvSpPr>
          <p:cNvPr id="9" name="Text 7"/>
          <p:cNvSpPr/>
          <p:nvPr/>
        </p:nvSpPr>
        <p:spPr>
          <a:xfrm>
            <a:off x="863798" y="4995624"/>
            <a:ext cx="12902803" cy="910233"/>
          </a:xfrm>
          <a:prstGeom prst="rect">
            <a:avLst/>
          </a:prstGeom>
          <a:noFill/>
          <a:ln/>
        </p:spPr>
        <p:txBody>
          <a:bodyPr wrap="square" lIns="0" tIns="0" rIns="0" bIns="0" rtlCol="0" anchor="t"/>
          <a:lstStyle/>
          <a:p>
            <a:pPr marL="342900" indent="-342900" algn="l">
              <a:lnSpc>
                <a:spcPts val="2050"/>
              </a:lnSpc>
              <a:buSzPct val="100000"/>
              <a:buChar char="•"/>
            </a:pPr>
            <a:r>
              <a:rPr lang="en-US" sz="1550" dirty="0">
                <a:solidFill>
                  <a:srgbClr val="E2E6E9"/>
                </a:solidFill>
                <a:latin typeface="Source Sans 3" pitchFamily="34" charset="0"/>
                <a:ea typeface="Source Sans 3" pitchFamily="34" charset="-122"/>
                <a:cs typeface="Source Sans 3" pitchFamily="34" charset="-120"/>
              </a:rPr>
              <a:t>Total transactions (count)</a:t>
            </a:r>
            <a:endParaRPr lang="en-US" sz="1550" dirty="0"/>
          </a:p>
          <a:p>
            <a:pPr marL="342900" indent="-342900" algn="l">
              <a:lnSpc>
                <a:spcPts val="2050"/>
              </a:lnSpc>
              <a:buSzPct val="100000"/>
              <a:buChar char="•"/>
            </a:pPr>
            <a:r>
              <a:rPr lang="en-US" sz="1550" dirty="0">
                <a:solidFill>
                  <a:srgbClr val="E2E6E9"/>
                </a:solidFill>
                <a:latin typeface="Source Sans 3" pitchFamily="34" charset="0"/>
                <a:ea typeface="Source Sans 3" pitchFamily="34" charset="-122"/>
                <a:cs typeface="Source Sans 3" pitchFamily="34" charset="-120"/>
              </a:rPr>
              <a:t>Average spending (mean)</a:t>
            </a:r>
            <a:endParaRPr lang="en-US" sz="1550" dirty="0"/>
          </a:p>
          <a:p>
            <a:pPr marL="342900" indent="-342900" algn="l">
              <a:lnSpc>
                <a:spcPts val="2050"/>
              </a:lnSpc>
              <a:buSzPct val="100000"/>
              <a:buChar char="•"/>
            </a:pPr>
            <a:r>
              <a:rPr lang="en-US" sz="1550" dirty="0">
                <a:solidFill>
                  <a:srgbClr val="E2E6E9"/>
                </a:solidFill>
                <a:latin typeface="Source Sans 3" pitchFamily="34" charset="0"/>
                <a:ea typeface="Source Sans 3" pitchFamily="34" charset="-122"/>
                <a:cs typeface="Source Sans 3" pitchFamily="34" charset="-120"/>
              </a:rPr>
              <a:t>Spending variation (std)</a:t>
            </a:r>
            <a:endParaRPr lang="en-US" sz="1550" dirty="0"/>
          </a:p>
        </p:txBody>
      </p:sp>
      <p:sp>
        <p:nvSpPr>
          <p:cNvPr id="10" name="Text 8"/>
          <p:cNvSpPr/>
          <p:nvPr/>
        </p:nvSpPr>
        <p:spPr>
          <a:xfrm>
            <a:off x="863798" y="6142792"/>
            <a:ext cx="2692598" cy="336590"/>
          </a:xfrm>
          <a:prstGeom prst="rect">
            <a:avLst/>
          </a:prstGeom>
          <a:noFill/>
          <a:ln/>
        </p:spPr>
        <p:txBody>
          <a:bodyPr wrap="none" lIns="0" tIns="0" rIns="0" bIns="0" rtlCol="0" anchor="t"/>
          <a:lstStyle/>
          <a:p>
            <a:pPr marL="0" indent="0" algn="l">
              <a:lnSpc>
                <a:spcPts val="2650"/>
              </a:lnSpc>
              <a:buNone/>
            </a:pPr>
            <a:r>
              <a:rPr lang="en-US" sz="2100" b="1" dirty="0">
                <a:solidFill>
                  <a:srgbClr val="FFFFFF"/>
                </a:solidFill>
                <a:latin typeface="Montserrat Bold" pitchFamily="34" charset="0"/>
                <a:ea typeface="Montserrat Bold" pitchFamily="34" charset="-122"/>
                <a:cs typeface="Montserrat Bold" pitchFamily="34" charset="-120"/>
              </a:rPr>
              <a:t>Logic:</a:t>
            </a:r>
            <a:endParaRPr lang="en-US" sz="2100" dirty="0"/>
          </a:p>
        </p:txBody>
      </p:sp>
      <p:sp>
        <p:nvSpPr>
          <p:cNvPr id="11" name="Text 9"/>
          <p:cNvSpPr/>
          <p:nvPr/>
        </p:nvSpPr>
        <p:spPr>
          <a:xfrm>
            <a:off x="863798" y="6716316"/>
            <a:ext cx="12902803" cy="266581"/>
          </a:xfrm>
          <a:prstGeom prst="rect">
            <a:avLst/>
          </a:prstGeom>
          <a:noFill/>
          <a:ln/>
        </p:spPr>
        <p:txBody>
          <a:bodyPr wrap="none" lIns="0" tIns="0" rIns="0" bIns="0" rtlCol="0" anchor="t"/>
          <a:lstStyle/>
          <a:p>
            <a:pPr marL="0" indent="0" algn="l">
              <a:lnSpc>
                <a:spcPts val="2050"/>
              </a:lnSpc>
              <a:buNone/>
            </a:pPr>
            <a:r>
              <a:rPr lang="en-US" sz="1550" dirty="0">
                <a:solidFill>
                  <a:srgbClr val="E2E6E9"/>
                </a:solidFill>
                <a:latin typeface="Source Sans 3" pitchFamily="34" charset="0"/>
                <a:ea typeface="Source Sans 3" pitchFamily="34" charset="-122"/>
                <a:cs typeface="Source Sans 3" pitchFamily="34" charset="-120"/>
              </a:rPr>
              <a:t>Every card has a "normal spending pattern".</a:t>
            </a:r>
            <a:endParaRPr lang="en-US" sz="1550" dirty="0"/>
          </a:p>
        </p:txBody>
      </p:sp>
      <p:sp>
        <p:nvSpPr>
          <p:cNvPr id="12" name="Text 10"/>
          <p:cNvSpPr/>
          <p:nvPr/>
        </p:nvSpPr>
        <p:spPr>
          <a:xfrm>
            <a:off x="863798" y="7160538"/>
            <a:ext cx="12902803" cy="266581"/>
          </a:xfrm>
          <a:prstGeom prst="rect">
            <a:avLst/>
          </a:prstGeom>
          <a:noFill/>
          <a:ln/>
        </p:spPr>
        <p:txBody>
          <a:bodyPr wrap="none" lIns="0" tIns="0" rIns="0" bIns="0" rtlCol="0" anchor="t"/>
          <a:lstStyle/>
          <a:p>
            <a:pPr marL="0" indent="0" algn="l">
              <a:lnSpc>
                <a:spcPts val="2050"/>
              </a:lnSpc>
              <a:buNone/>
            </a:pPr>
            <a:r>
              <a:rPr lang="en-US" sz="1550" dirty="0">
                <a:solidFill>
                  <a:srgbClr val="E2E6E9"/>
                </a:solidFill>
                <a:latin typeface="Source Sans 3" pitchFamily="34" charset="0"/>
                <a:ea typeface="Source Sans 3" pitchFamily="34" charset="-122"/>
                <a:cs typeface="Source Sans 3" pitchFamily="34" charset="-120"/>
              </a:rPr>
              <a:t>If a card usually spends $20, and suddenly spends $2000, that is suspicious.</a:t>
            </a:r>
            <a:endParaRPr lang="en-US" sz="1550" dirty="0"/>
          </a:p>
        </p:txBody>
      </p:sp>
      <p:pic>
        <p:nvPicPr>
          <p:cNvPr id="14" name="Picture 13">
            <a:extLst>
              <a:ext uri="{FF2B5EF4-FFF2-40B4-BE49-F238E27FC236}">
                <a16:creationId xmlns:a16="http://schemas.microsoft.com/office/drawing/2014/main" id="{98D00695-9231-4A04-B2FA-90F40272CAA0}"/>
              </a:ext>
            </a:extLst>
          </p:cNvPr>
          <p:cNvPicPr>
            <a:picLocks noChangeAspect="1"/>
          </p:cNvPicPr>
          <p:nvPr/>
        </p:nvPicPr>
        <p:blipFill>
          <a:blip r:embed="rId3"/>
          <a:stretch>
            <a:fillRect/>
          </a:stretch>
        </p:blipFill>
        <p:spPr>
          <a:xfrm>
            <a:off x="10813854" y="7218777"/>
            <a:ext cx="3816546" cy="97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63798" y="753904"/>
            <a:ext cx="6046589" cy="448628"/>
          </a:xfrm>
          <a:prstGeom prst="rect">
            <a:avLst/>
          </a:prstGeom>
          <a:noFill/>
          <a:ln/>
        </p:spPr>
        <p:txBody>
          <a:bodyPr wrap="none" lIns="0" tIns="0" rIns="0" bIns="0" rtlCol="0" anchor="t"/>
          <a:lstStyle/>
          <a:p>
            <a:pPr marL="0" indent="0" algn="l">
              <a:lnSpc>
                <a:spcPts val="3500"/>
              </a:lnSpc>
              <a:buNone/>
            </a:pPr>
            <a:r>
              <a:rPr lang="en-US" sz="2800" b="1" dirty="0">
                <a:solidFill>
                  <a:srgbClr val="FFFFFF"/>
                </a:solidFill>
                <a:latin typeface="Montserrat Bold" pitchFamily="34" charset="0"/>
                <a:ea typeface="Montserrat Bold" pitchFamily="34" charset="-122"/>
                <a:cs typeface="Montserrat Bold" pitchFamily="34" charset="-120"/>
              </a:rPr>
              <a:t>5.Composite User Profiles (UIDs)</a:t>
            </a:r>
            <a:endParaRPr lang="en-US" sz="2800" dirty="0"/>
          </a:p>
        </p:txBody>
      </p:sp>
      <p:sp>
        <p:nvSpPr>
          <p:cNvPr id="3" name="Shape 1"/>
          <p:cNvSpPr/>
          <p:nvPr/>
        </p:nvSpPr>
        <p:spPr>
          <a:xfrm>
            <a:off x="863798" y="1518404"/>
            <a:ext cx="12902803" cy="1362313"/>
          </a:xfrm>
          <a:prstGeom prst="roundRect">
            <a:avLst>
              <a:gd name="adj" fmla="val 2174"/>
            </a:avLst>
          </a:prstGeom>
          <a:solidFill>
            <a:srgbClr val="1E1F20"/>
          </a:solidFill>
          <a:ln/>
        </p:spPr>
      </p:sp>
      <p:sp>
        <p:nvSpPr>
          <p:cNvPr id="4" name="Shape 2"/>
          <p:cNvSpPr/>
          <p:nvPr/>
        </p:nvSpPr>
        <p:spPr>
          <a:xfrm>
            <a:off x="854035" y="1518404"/>
            <a:ext cx="12922329" cy="1362313"/>
          </a:xfrm>
          <a:prstGeom prst="roundRect">
            <a:avLst>
              <a:gd name="adj" fmla="val 2174"/>
            </a:avLst>
          </a:prstGeom>
          <a:solidFill>
            <a:srgbClr val="1E1F20"/>
          </a:solidFill>
          <a:ln/>
        </p:spPr>
      </p:sp>
      <p:sp>
        <p:nvSpPr>
          <p:cNvPr id="5" name="Text 3"/>
          <p:cNvSpPr/>
          <p:nvPr/>
        </p:nvSpPr>
        <p:spPr>
          <a:xfrm>
            <a:off x="1051441" y="1666399"/>
            <a:ext cx="12527518" cy="1066324"/>
          </a:xfrm>
          <a:prstGeom prst="rect">
            <a:avLst/>
          </a:prstGeom>
          <a:noFill/>
          <a:ln/>
        </p:spPr>
        <p:txBody>
          <a:bodyPr wrap="square" lIns="0" tIns="0" rIns="0" bIns="0" rtlCol="0" anchor="t"/>
          <a:lstStyle/>
          <a:p>
            <a:pPr marL="0" indent="0" algn="l">
              <a:lnSpc>
                <a:spcPts val="2050"/>
              </a:lnSpc>
              <a:buNone/>
            </a:pPr>
            <a:r>
              <a:rPr lang="en-US" sz="1550" dirty="0">
                <a:solidFill>
                  <a:srgbClr val="E2E6E9"/>
                </a:solidFill>
                <a:highlight>
                  <a:srgbClr val="1E1F20"/>
                </a:highlight>
                <a:latin typeface="Consolas" pitchFamily="34" charset="0"/>
                <a:ea typeface="Consolas" pitchFamily="34" charset="-122"/>
                <a:cs typeface="Consolas" pitchFamily="34" charset="-120"/>
              </a:rPr>
              <a:t>train['uid'] = train['card1'].astype(str) + '_' + train['addr1'].astype(str)</a:t>
            </a:r>
            <a:endParaRPr lang="en-US" sz="1550" dirty="0"/>
          </a:p>
          <a:p>
            <a:pPr marL="0" indent="0" algn="l">
              <a:lnSpc>
                <a:spcPts val="2050"/>
              </a:lnSpc>
              <a:buNone/>
            </a:pPr>
            <a:r>
              <a:rPr lang="en-US" sz="1550" dirty="0">
                <a:solidFill>
                  <a:srgbClr val="E2E6E9"/>
                </a:solidFill>
                <a:highlight>
                  <a:srgbClr val="1E1F20"/>
                </a:highlight>
                <a:latin typeface="Consolas" pitchFamily="34" charset="0"/>
                <a:ea typeface="Consolas" pitchFamily="34" charset="-122"/>
                <a:cs typeface="Consolas" pitchFamily="34" charset="-120"/>
              </a:rPr>
              <a:t>train['uid2'] = train['uid'] + '_' + train['P_emaildomain'].astype(str)</a:t>
            </a:r>
            <a:endParaRPr lang="en-US" sz="1550" dirty="0"/>
          </a:p>
          <a:p>
            <a:pPr marL="0" indent="0" algn="l">
              <a:lnSpc>
                <a:spcPts val="2050"/>
              </a:lnSpc>
              <a:buNone/>
            </a:pPr>
            <a:r>
              <a:rPr lang="en-US" sz="1550" dirty="0">
                <a:solidFill>
                  <a:srgbClr val="E2E6E9"/>
                </a:solidFill>
                <a:highlight>
                  <a:srgbClr val="1E1F20"/>
                </a:highlight>
                <a:latin typeface="Consolas" pitchFamily="34" charset="0"/>
                <a:ea typeface="Consolas" pitchFamily="34" charset="-122"/>
                <a:cs typeface="Consolas" pitchFamily="34" charset="-120"/>
              </a:rPr>
              <a:t>train['uid2_TransactionAmt_mean'] = train.groupby('uid2')['TransactionAmt'].transform('mean')</a:t>
            </a:r>
            <a:endParaRPr lang="en-US" sz="1550" dirty="0"/>
          </a:p>
          <a:p>
            <a:pPr marL="0" indent="0" algn="l">
              <a:lnSpc>
                <a:spcPts val="2050"/>
              </a:lnSpc>
              <a:buNone/>
            </a:pPr>
            <a:r>
              <a:rPr lang="en-US" sz="1550" dirty="0">
                <a:solidFill>
                  <a:srgbClr val="E2E6E9"/>
                </a:solidFill>
                <a:highlight>
                  <a:srgbClr val="1E1F20"/>
                </a:highlight>
                <a:latin typeface="Consolas" pitchFamily="34" charset="0"/>
                <a:ea typeface="Consolas" pitchFamily="34" charset="-122"/>
                <a:cs typeface="Consolas" pitchFamily="34" charset="-120"/>
              </a:rPr>
              <a:t>    </a:t>
            </a:r>
            <a:endParaRPr lang="en-US" sz="1550" dirty="0"/>
          </a:p>
        </p:txBody>
      </p:sp>
      <p:sp>
        <p:nvSpPr>
          <p:cNvPr id="6" name="Text 4"/>
          <p:cNvSpPr/>
          <p:nvPr/>
        </p:nvSpPr>
        <p:spPr>
          <a:xfrm>
            <a:off x="863798" y="3117652"/>
            <a:ext cx="2243852" cy="280511"/>
          </a:xfrm>
          <a:prstGeom prst="rect">
            <a:avLst/>
          </a:prstGeom>
          <a:noFill/>
          <a:ln/>
        </p:spPr>
        <p:txBody>
          <a:bodyPr wrap="none" lIns="0" tIns="0" rIns="0" bIns="0" rtlCol="0" anchor="t"/>
          <a:lstStyle/>
          <a:p>
            <a:pPr marL="0" indent="0" algn="l">
              <a:lnSpc>
                <a:spcPts val="2200"/>
              </a:lnSpc>
              <a:buNone/>
            </a:pPr>
            <a:r>
              <a:rPr lang="en-US" sz="1750" b="1" dirty="0">
                <a:solidFill>
                  <a:srgbClr val="FFFFFF"/>
                </a:solidFill>
                <a:latin typeface="Montserrat Bold" pitchFamily="34" charset="0"/>
                <a:ea typeface="Montserrat Bold" pitchFamily="34" charset="-122"/>
                <a:cs typeface="Montserrat Bold" pitchFamily="34" charset="-120"/>
              </a:rPr>
              <a:t>Explanation:</a:t>
            </a:r>
            <a:endParaRPr lang="en-US" sz="1750" dirty="0"/>
          </a:p>
        </p:txBody>
      </p:sp>
      <p:sp>
        <p:nvSpPr>
          <p:cNvPr id="7" name="Text 5"/>
          <p:cNvSpPr/>
          <p:nvPr/>
        </p:nvSpPr>
        <p:spPr>
          <a:xfrm>
            <a:off x="863798" y="3635097"/>
            <a:ext cx="12902803" cy="266581"/>
          </a:xfrm>
          <a:prstGeom prst="rect">
            <a:avLst/>
          </a:prstGeom>
          <a:noFill/>
          <a:ln/>
        </p:spPr>
        <p:txBody>
          <a:bodyPr wrap="none" lIns="0" tIns="0" rIns="0" bIns="0" rtlCol="0" anchor="t"/>
          <a:lstStyle/>
          <a:p>
            <a:pPr marL="0" indent="0" algn="l">
              <a:lnSpc>
                <a:spcPts val="2050"/>
              </a:lnSpc>
              <a:buNone/>
            </a:pPr>
            <a:r>
              <a:rPr lang="en-US" sz="1550" dirty="0">
                <a:solidFill>
                  <a:srgbClr val="E2E6E9"/>
                </a:solidFill>
                <a:latin typeface="Source Sans 3" pitchFamily="34" charset="0"/>
                <a:ea typeface="Source Sans 3" pitchFamily="34" charset="-122"/>
                <a:cs typeface="Source Sans 3" pitchFamily="34" charset="-120"/>
              </a:rPr>
              <a:t>We combined:</a:t>
            </a:r>
            <a:endParaRPr lang="en-US" sz="1550" dirty="0"/>
          </a:p>
        </p:txBody>
      </p:sp>
      <p:sp>
        <p:nvSpPr>
          <p:cNvPr id="8" name="Text 6"/>
          <p:cNvSpPr/>
          <p:nvPr/>
        </p:nvSpPr>
        <p:spPr>
          <a:xfrm>
            <a:off x="863798" y="4079319"/>
            <a:ext cx="12902803" cy="910233"/>
          </a:xfrm>
          <a:prstGeom prst="rect">
            <a:avLst/>
          </a:prstGeom>
          <a:noFill/>
          <a:ln/>
        </p:spPr>
        <p:txBody>
          <a:bodyPr wrap="square" lIns="0" tIns="0" rIns="0" bIns="0" rtlCol="0" anchor="t"/>
          <a:lstStyle/>
          <a:p>
            <a:pPr marL="342900" indent="-342900" algn="l">
              <a:lnSpc>
                <a:spcPts val="2050"/>
              </a:lnSpc>
              <a:buSzPct val="100000"/>
              <a:buChar char="•"/>
            </a:pPr>
            <a:r>
              <a:rPr lang="en-US" sz="1550" dirty="0">
                <a:solidFill>
                  <a:srgbClr val="E2E6E9"/>
                </a:solidFill>
                <a:latin typeface="Source Sans 3" pitchFamily="34" charset="0"/>
                <a:ea typeface="Source Sans 3" pitchFamily="34" charset="-122"/>
                <a:cs typeface="Source Sans 3" pitchFamily="34" charset="-120"/>
              </a:rPr>
              <a:t>Card number</a:t>
            </a:r>
            <a:endParaRPr lang="en-US" sz="1550" dirty="0"/>
          </a:p>
          <a:p>
            <a:pPr marL="342900" indent="-342900" algn="l">
              <a:lnSpc>
                <a:spcPts val="2050"/>
              </a:lnSpc>
              <a:buSzPct val="100000"/>
              <a:buChar char="•"/>
            </a:pPr>
            <a:r>
              <a:rPr lang="en-US" sz="1550" dirty="0">
                <a:solidFill>
                  <a:srgbClr val="E2E6E9"/>
                </a:solidFill>
                <a:latin typeface="Source Sans 3" pitchFamily="34" charset="0"/>
                <a:ea typeface="Source Sans 3" pitchFamily="34" charset="-122"/>
                <a:cs typeface="Source Sans 3" pitchFamily="34" charset="-120"/>
              </a:rPr>
              <a:t>Address</a:t>
            </a:r>
            <a:endParaRPr lang="en-US" sz="1550" dirty="0"/>
          </a:p>
          <a:p>
            <a:pPr marL="342900" indent="-342900" algn="l">
              <a:lnSpc>
                <a:spcPts val="2050"/>
              </a:lnSpc>
              <a:buSzPct val="100000"/>
              <a:buChar char="•"/>
            </a:pPr>
            <a:r>
              <a:rPr lang="en-US" sz="1550" dirty="0">
                <a:solidFill>
                  <a:srgbClr val="E2E6E9"/>
                </a:solidFill>
                <a:latin typeface="Source Sans 3" pitchFamily="34" charset="0"/>
                <a:ea typeface="Source Sans 3" pitchFamily="34" charset="-122"/>
                <a:cs typeface="Source Sans 3" pitchFamily="34" charset="-120"/>
              </a:rPr>
              <a:t>Email domain</a:t>
            </a:r>
            <a:endParaRPr lang="en-US" sz="1550" dirty="0"/>
          </a:p>
        </p:txBody>
      </p:sp>
      <p:sp>
        <p:nvSpPr>
          <p:cNvPr id="9" name="Text 7"/>
          <p:cNvSpPr/>
          <p:nvPr/>
        </p:nvSpPr>
        <p:spPr>
          <a:xfrm>
            <a:off x="863798" y="5167193"/>
            <a:ext cx="12902803" cy="266581"/>
          </a:xfrm>
          <a:prstGeom prst="rect">
            <a:avLst/>
          </a:prstGeom>
          <a:noFill/>
          <a:ln/>
        </p:spPr>
        <p:txBody>
          <a:bodyPr wrap="none" lIns="0" tIns="0" rIns="0" bIns="0" rtlCol="0" anchor="t"/>
          <a:lstStyle/>
          <a:p>
            <a:pPr marL="0" indent="0" algn="l">
              <a:lnSpc>
                <a:spcPts val="2050"/>
              </a:lnSpc>
              <a:buNone/>
            </a:pPr>
            <a:r>
              <a:rPr lang="en-US" sz="1550" dirty="0">
                <a:solidFill>
                  <a:srgbClr val="E2E6E9"/>
                </a:solidFill>
                <a:latin typeface="Source Sans 3" pitchFamily="34" charset="0"/>
                <a:ea typeface="Source Sans 3" pitchFamily="34" charset="-122"/>
                <a:cs typeface="Source Sans 3" pitchFamily="34" charset="-120"/>
              </a:rPr>
              <a:t>To create a unique user identity.</a:t>
            </a:r>
            <a:endParaRPr lang="en-US" sz="1550" dirty="0"/>
          </a:p>
        </p:txBody>
      </p:sp>
      <p:sp>
        <p:nvSpPr>
          <p:cNvPr id="10" name="Text 8"/>
          <p:cNvSpPr/>
          <p:nvPr/>
        </p:nvSpPr>
        <p:spPr>
          <a:xfrm>
            <a:off x="863798" y="5670709"/>
            <a:ext cx="2243852" cy="280511"/>
          </a:xfrm>
          <a:prstGeom prst="rect">
            <a:avLst/>
          </a:prstGeom>
          <a:noFill/>
          <a:ln/>
        </p:spPr>
        <p:txBody>
          <a:bodyPr wrap="none" lIns="0" tIns="0" rIns="0" bIns="0" rtlCol="0" anchor="t"/>
          <a:lstStyle/>
          <a:p>
            <a:pPr marL="0" indent="0" algn="l">
              <a:lnSpc>
                <a:spcPts val="2200"/>
              </a:lnSpc>
              <a:buNone/>
            </a:pPr>
            <a:r>
              <a:rPr lang="en-US" sz="1750" b="1" dirty="0">
                <a:solidFill>
                  <a:srgbClr val="FFFFFF"/>
                </a:solidFill>
                <a:latin typeface="Montserrat Bold" pitchFamily="34" charset="0"/>
                <a:ea typeface="Montserrat Bold" pitchFamily="34" charset="-122"/>
                <a:cs typeface="Montserrat Bold" pitchFamily="34" charset="-120"/>
              </a:rPr>
              <a:t>Logic:</a:t>
            </a:r>
            <a:endParaRPr lang="en-US" sz="1750" dirty="0"/>
          </a:p>
        </p:txBody>
      </p:sp>
      <p:sp>
        <p:nvSpPr>
          <p:cNvPr id="11" name="Text 9"/>
          <p:cNvSpPr/>
          <p:nvPr/>
        </p:nvSpPr>
        <p:spPr>
          <a:xfrm>
            <a:off x="863798" y="6188154"/>
            <a:ext cx="12902803" cy="266581"/>
          </a:xfrm>
          <a:prstGeom prst="rect">
            <a:avLst/>
          </a:prstGeom>
          <a:noFill/>
          <a:ln/>
        </p:spPr>
        <p:txBody>
          <a:bodyPr wrap="none" lIns="0" tIns="0" rIns="0" bIns="0" rtlCol="0" anchor="t"/>
          <a:lstStyle/>
          <a:p>
            <a:pPr marL="0" indent="0" algn="l">
              <a:lnSpc>
                <a:spcPts val="2050"/>
              </a:lnSpc>
              <a:buNone/>
            </a:pPr>
            <a:r>
              <a:rPr lang="en-US" sz="1550" dirty="0">
                <a:solidFill>
                  <a:srgbClr val="E2E6E9"/>
                </a:solidFill>
                <a:latin typeface="Source Sans 3" pitchFamily="34" charset="0"/>
                <a:ea typeface="Source Sans 3" pitchFamily="34" charset="-122"/>
                <a:cs typeface="Source Sans 3" pitchFamily="34" charset="-120"/>
              </a:rPr>
              <a:t>One feature alone may be weak. But combining them creates a strong digital identity.</a:t>
            </a:r>
            <a:endParaRPr lang="en-US" sz="1550" dirty="0"/>
          </a:p>
        </p:txBody>
      </p:sp>
      <p:sp>
        <p:nvSpPr>
          <p:cNvPr id="12" name="Text 10"/>
          <p:cNvSpPr/>
          <p:nvPr/>
        </p:nvSpPr>
        <p:spPr>
          <a:xfrm>
            <a:off x="863798" y="6691670"/>
            <a:ext cx="2243852" cy="280511"/>
          </a:xfrm>
          <a:prstGeom prst="rect">
            <a:avLst/>
          </a:prstGeom>
          <a:noFill/>
          <a:ln/>
        </p:spPr>
        <p:txBody>
          <a:bodyPr wrap="none" lIns="0" tIns="0" rIns="0" bIns="0" rtlCol="0" anchor="t"/>
          <a:lstStyle/>
          <a:p>
            <a:pPr marL="0" indent="0" algn="l">
              <a:lnSpc>
                <a:spcPts val="2200"/>
              </a:lnSpc>
              <a:buNone/>
            </a:pPr>
            <a:r>
              <a:rPr lang="en-US" sz="1750" b="1" dirty="0">
                <a:solidFill>
                  <a:srgbClr val="FFFFFF"/>
                </a:solidFill>
                <a:latin typeface="Montserrat Bold" pitchFamily="34" charset="0"/>
                <a:ea typeface="Montserrat Bold" pitchFamily="34" charset="-122"/>
                <a:cs typeface="Montserrat Bold" pitchFamily="34" charset="-120"/>
              </a:rPr>
              <a:t>Benefit:</a:t>
            </a:r>
            <a:endParaRPr lang="en-US" sz="1750" dirty="0"/>
          </a:p>
        </p:txBody>
      </p:sp>
      <p:sp>
        <p:nvSpPr>
          <p:cNvPr id="13" name="Text 11"/>
          <p:cNvSpPr/>
          <p:nvPr/>
        </p:nvSpPr>
        <p:spPr>
          <a:xfrm>
            <a:off x="863798" y="7209115"/>
            <a:ext cx="12902803" cy="266581"/>
          </a:xfrm>
          <a:prstGeom prst="rect">
            <a:avLst/>
          </a:prstGeom>
          <a:noFill/>
          <a:ln/>
        </p:spPr>
        <p:txBody>
          <a:bodyPr wrap="none" lIns="0" tIns="0" rIns="0" bIns="0" rtlCol="0" anchor="t"/>
          <a:lstStyle/>
          <a:p>
            <a:pPr marL="0" indent="0" algn="l">
              <a:lnSpc>
                <a:spcPts val="2050"/>
              </a:lnSpc>
              <a:buNone/>
            </a:pPr>
            <a:r>
              <a:rPr lang="en-US" sz="1550" b="1" dirty="0">
                <a:solidFill>
                  <a:srgbClr val="E2E6E9"/>
                </a:solidFill>
                <a:latin typeface="Source Sans 3" pitchFamily="34" charset="0"/>
                <a:ea typeface="Source Sans 3" pitchFamily="34" charset="-122"/>
                <a:cs typeface="Source Sans 3" pitchFamily="34" charset="-120"/>
              </a:rPr>
              <a:t>This builds a detailed behavioral profile that makes fraud harder to hide.</a:t>
            </a:r>
            <a:endParaRPr lang="en-US" sz="1550" dirty="0"/>
          </a:p>
        </p:txBody>
      </p:sp>
      <p:pic>
        <p:nvPicPr>
          <p:cNvPr id="15" name="Picture 14">
            <a:extLst>
              <a:ext uri="{FF2B5EF4-FFF2-40B4-BE49-F238E27FC236}">
                <a16:creationId xmlns:a16="http://schemas.microsoft.com/office/drawing/2014/main" id="{10E27584-FEA5-496C-8436-3F2A142E91DC}"/>
              </a:ext>
            </a:extLst>
          </p:cNvPr>
          <p:cNvPicPr>
            <a:picLocks noChangeAspect="1"/>
          </p:cNvPicPr>
          <p:nvPr/>
        </p:nvPicPr>
        <p:blipFill>
          <a:blip r:embed="rId3"/>
          <a:stretch>
            <a:fillRect/>
          </a:stretch>
        </p:blipFill>
        <p:spPr>
          <a:xfrm>
            <a:off x="10813854" y="7258000"/>
            <a:ext cx="3816546" cy="97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57488" y="685205"/>
            <a:ext cx="6308408" cy="522089"/>
          </a:xfrm>
          <a:prstGeom prst="rect">
            <a:avLst/>
          </a:prstGeom>
          <a:noFill/>
          <a:ln/>
        </p:spPr>
        <p:txBody>
          <a:bodyPr wrap="none" lIns="0" tIns="0" rIns="0" bIns="0" rtlCol="0" anchor="t"/>
          <a:lstStyle/>
          <a:p>
            <a:pPr marL="0" indent="0" algn="l">
              <a:lnSpc>
                <a:spcPts val="4100"/>
              </a:lnSpc>
              <a:buNone/>
            </a:pPr>
            <a:r>
              <a:rPr lang="en-US" sz="3250" b="1" dirty="0">
                <a:solidFill>
                  <a:srgbClr val="FFFFFF"/>
                </a:solidFill>
                <a:latin typeface="Montserrat Bold" pitchFamily="34" charset="0"/>
                <a:ea typeface="Montserrat Bold" pitchFamily="34" charset="-122"/>
                <a:cs typeface="Montserrat Bold" pitchFamily="34" charset="-120"/>
              </a:rPr>
              <a:t>6. Device &amp; Browser Strategy</a:t>
            </a:r>
            <a:endParaRPr lang="en-US" sz="3250" dirty="0"/>
          </a:p>
        </p:txBody>
      </p:sp>
      <p:sp>
        <p:nvSpPr>
          <p:cNvPr id="3" name="Text 1"/>
          <p:cNvSpPr/>
          <p:nvPr/>
        </p:nvSpPr>
        <p:spPr>
          <a:xfrm>
            <a:off x="857488" y="1261943"/>
            <a:ext cx="4719757" cy="417552"/>
          </a:xfrm>
          <a:prstGeom prst="rect">
            <a:avLst/>
          </a:prstGeom>
          <a:noFill/>
          <a:ln/>
        </p:spPr>
        <p:txBody>
          <a:bodyPr wrap="none" lIns="0" tIns="0" rIns="0" bIns="0" rtlCol="0" anchor="t"/>
          <a:lstStyle/>
          <a:p>
            <a:pPr marL="0" indent="0" algn="l">
              <a:lnSpc>
                <a:spcPts val="3250"/>
              </a:lnSpc>
              <a:buNone/>
            </a:pPr>
            <a:r>
              <a:rPr lang="en-US" sz="2600" b="1" dirty="0">
                <a:solidFill>
                  <a:srgbClr val="FFFFFF"/>
                </a:solidFill>
                <a:latin typeface="Montserrat Bold" pitchFamily="34" charset="0"/>
                <a:ea typeface="Montserrat Bold" pitchFamily="34" charset="-122"/>
                <a:cs typeface="Montserrat Bold" pitchFamily="34" charset="-120"/>
              </a:rPr>
              <a:t>Device &amp; Browser Cleaning</a:t>
            </a:r>
            <a:endParaRPr lang="en-US" sz="2600" dirty="0"/>
          </a:p>
        </p:txBody>
      </p:sp>
      <p:sp>
        <p:nvSpPr>
          <p:cNvPr id="4" name="Shape 2"/>
          <p:cNvSpPr/>
          <p:nvPr/>
        </p:nvSpPr>
        <p:spPr>
          <a:xfrm>
            <a:off x="857488" y="1884640"/>
            <a:ext cx="12915424" cy="1476851"/>
          </a:xfrm>
          <a:prstGeom prst="roundRect">
            <a:avLst>
              <a:gd name="adj" fmla="val 1866"/>
            </a:avLst>
          </a:prstGeom>
          <a:solidFill>
            <a:srgbClr val="1E1F20"/>
          </a:solidFill>
          <a:ln/>
        </p:spPr>
      </p:sp>
      <p:sp>
        <p:nvSpPr>
          <p:cNvPr id="5" name="Shape 3"/>
          <p:cNvSpPr/>
          <p:nvPr/>
        </p:nvSpPr>
        <p:spPr>
          <a:xfrm>
            <a:off x="848320" y="1884640"/>
            <a:ext cx="12933759" cy="1476851"/>
          </a:xfrm>
          <a:prstGeom prst="roundRect">
            <a:avLst>
              <a:gd name="adj" fmla="val 1866"/>
            </a:avLst>
          </a:prstGeom>
          <a:solidFill>
            <a:srgbClr val="1E1F20"/>
          </a:solidFill>
          <a:ln/>
        </p:spPr>
      </p:sp>
      <p:sp>
        <p:nvSpPr>
          <p:cNvPr id="6" name="Text 4"/>
          <p:cNvSpPr/>
          <p:nvPr/>
        </p:nvSpPr>
        <p:spPr>
          <a:xfrm>
            <a:off x="1032034" y="2022396"/>
            <a:ext cx="12566333" cy="1201341"/>
          </a:xfrm>
          <a:prstGeom prst="rect">
            <a:avLst/>
          </a:prstGeom>
          <a:noFill/>
          <a:ln/>
        </p:spPr>
        <p:txBody>
          <a:bodyPr wrap="square" lIns="0" tIns="0" rIns="0" bIns="0" rtlCol="0" anchor="t"/>
          <a:lstStyle/>
          <a:p>
            <a:pPr marL="0" indent="0" algn="l">
              <a:lnSpc>
                <a:spcPts val="1850"/>
              </a:lnSpc>
              <a:buNone/>
            </a:pPr>
            <a:r>
              <a:rPr lang="en-US" sz="1400" dirty="0">
                <a:solidFill>
                  <a:srgbClr val="E2E6E9"/>
                </a:solidFill>
                <a:highlight>
                  <a:srgbClr val="1E1F20"/>
                </a:highlight>
                <a:latin typeface="Consolas" pitchFamily="34" charset="0"/>
                <a:ea typeface="Consolas" pitchFamily="34" charset="-122"/>
                <a:cs typeface="Consolas" pitchFamily="34" charset="-120"/>
              </a:rPr>
              <a:t>resolution_split = train['id_33'].str.split('x', expand=True)</a:t>
            </a:r>
            <a:endParaRPr lang="en-US" sz="1400" dirty="0"/>
          </a:p>
          <a:p>
            <a:pPr marL="0" indent="0" algn="l">
              <a:lnSpc>
                <a:spcPts val="1850"/>
              </a:lnSpc>
              <a:buNone/>
            </a:pPr>
            <a:r>
              <a:rPr lang="en-US" sz="1400" dirty="0">
                <a:solidFill>
                  <a:srgbClr val="E2E6E9"/>
                </a:solidFill>
                <a:highlight>
                  <a:srgbClr val="1E1F20"/>
                </a:highlight>
                <a:latin typeface="Consolas" pitchFamily="34" charset="0"/>
                <a:ea typeface="Consolas" pitchFamily="34" charset="-122"/>
                <a:cs typeface="Consolas" pitchFamily="34" charset="-120"/>
              </a:rPr>
              <a:t>train['screen_width'] = resolution_split[0].astype(float)</a:t>
            </a:r>
            <a:endParaRPr lang="en-US" sz="1400" dirty="0"/>
          </a:p>
          <a:p>
            <a:pPr marL="0" indent="0" algn="l">
              <a:lnSpc>
                <a:spcPts val="1850"/>
              </a:lnSpc>
              <a:buNone/>
            </a:pPr>
            <a:r>
              <a:rPr lang="en-US" sz="1400" dirty="0">
                <a:solidFill>
                  <a:srgbClr val="E2E6E9"/>
                </a:solidFill>
                <a:highlight>
                  <a:srgbClr val="1E1F20"/>
                </a:highlight>
                <a:latin typeface="Consolas" pitchFamily="34" charset="0"/>
                <a:ea typeface="Consolas" pitchFamily="34" charset="-122"/>
                <a:cs typeface="Consolas" pitchFamily="34" charset="-120"/>
              </a:rPr>
              <a:t>train['screen_height'] = resolution_split[1].astype(float)</a:t>
            </a:r>
            <a:endParaRPr lang="en-US" sz="1400" dirty="0"/>
          </a:p>
          <a:p>
            <a:pPr marL="0" indent="0" algn="l">
              <a:lnSpc>
                <a:spcPts val="1850"/>
              </a:lnSpc>
              <a:buNone/>
            </a:pPr>
            <a:r>
              <a:rPr lang="en-US" sz="1400" dirty="0">
                <a:solidFill>
                  <a:srgbClr val="E2E6E9"/>
                </a:solidFill>
                <a:highlight>
                  <a:srgbClr val="1E1F20"/>
                </a:highlight>
                <a:latin typeface="Consolas" pitchFamily="34" charset="0"/>
                <a:ea typeface="Consolas" pitchFamily="34" charset="-122"/>
                <a:cs typeface="Consolas" pitchFamily="34" charset="-120"/>
              </a:rPr>
              <a:t>train['browser_clean'] = train['id_31'].str.lower()</a:t>
            </a:r>
            <a:endParaRPr lang="en-US" sz="1400" dirty="0"/>
          </a:p>
          <a:p>
            <a:pPr marL="0" indent="0" algn="l">
              <a:lnSpc>
                <a:spcPts val="1850"/>
              </a:lnSpc>
              <a:buNone/>
            </a:pPr>
            <a:r>
              <a:rPr lang="en-US" sz="1400" dirty="0">
                <a:solidFill>
                  <a:srgbClr val="E2E6E9"/>
                </a:solidFill>
                <a:highlight>
                  <a:srgbClr val="1E1F20"/>
                </a:highlight>
                <a:latin typeface="Consolas" pitchFamily="34" charset="0"/>
                <a:ea typeface="Consolas" pitchFamily="34" charset="-122"/>
                <a:cs typeface="Consolas" pitchFamily="34" charset="-120"/>
              </a:rPr>
              <a:t>    </a:t>
            </a:r>
            <a:endParaRPr lang="en-US" sz="1400" dirty="0"/>
          </a:p>
        </p:txBody>
      </p:sp>
      <p:sp>
        <p:nvSpPr>
          <p:cNvPr id="7" name="Text 5"/>
          <p:cNvSpPr/>
          <p:nvPr/>
        </p:nvSpPr>
        <p:spPr>
          <a:xfrm>
            <a:off x="857488" y="3566636"/>
            <a:ext cx="3341132" cy="417552"/>
          </a:xfrm>
          <a:prstGeom prst="rect">
            <a:avLst/>
          </a:prstGeom>
          <a:noFill/>
          <a:ln/>
        </p:spPr>
        <p:txBody>
          <a:bodyPr wrap="none" lIns="0" tIns="0" rIns="0" bIns="0" rtlCol="0" anchor="t"/>
          <a:lstStyle/>
          <a:p>
            <a:pPr marL="0" indent="0" algn="l">
              <a:lnSpc>
                <a:spcPts val="3250"/>
              </a:lnSpc>
              <a:buNone/>
            </a:pPr>
            <a:r>
              <a:rPr lang="en-US" sz="2600" b="1" dirty="0">
                <a:solidFill>
                  <a:srgbClr val="FFFFFF"/>
                </a:solidFill>
                <a:latin typeface="Montserrat Bold" pitchFamily="34" charset="0"/>
                <a:ea typeface="Montserrat Bold" pitchFamily="34" charset="-122"/>
                <a:cs typeface="Montserrat Bold" pitchFamily="34" charset="-120"/>
              </a:rPr>
              <a:t>Explanation:</a:t>
            </a:r>
            <a:endParaRPr lang="en-US" sz="2600" dirty="0"/>
          </a:p>
        </p:txBody>
      </p:sp>
      <p:sp>
        <p:nvSpPr>
          <p:cNvPr id="8" name="Text 6"/>
          <p:cNvSpPr/>
          <p:nvPr/>
        </p:nvSpPr>
        <p:spPr>
          <a:xfrm>
            <a:off x="857488" y="4189333"/>
            <a:ext cx="12915424" cy="240268"/>
          </a:xfrm>
          <a:prstGeom prst="rect">
            <a:avLst/>
          </a:prstGeom>
          <a:noFill/>
          <a:ln/>
        </p:spPr>
        <p:txBody>
          <a:bodyPr wrap="none" lIns="0" tIns="0" rIns="0" bIns="0" rtlCol="0" anchor="t"/>
          <a:lstStyle/>
          <a:p>
            <a:pPr marL="0" indent="0" algn="l">
              <a:lnSpc>
                <a:spcPts val="1850"/>
              </a:lnSpc>
              <a:buNone/>
            </a:pPr>
            <a:r>
              <a:rPr lang="en-US" sz="1400" dirty="0">
                <a:solidFill>
                  <a:srgbClr val="E2E6E9"/>
                </a:solidFill>
                <a:latin typeface="Source Sans 3" pitchFamily="34" charset="0"/>
                <a:ea typeface="Source Sans 3" pitchFamily="34" charset="-122"/>
                <a:cs typeface="Source Sans 3" pitchFamily="34" charset="-120"/>
              </a:rPr>
              <a:t>We cleaned messy device data:</a:t>
            </a:r>
            <a:endParaRPr lang="en-US" sz="1400" dirty="0"/>
          </a:p>
        </p:txBody>
      </p:sp>
      <p:sp>
        <p:nvSpPr>
          <p:cNvPr id="9" name="Text 7"/>
          <p:cNvSpPr/>
          <p:nvPr/>
        </p:nvSpPr>
        <p:spPr>
          <a:xfrm>
            <a:off x="857488" y="4583430"/>
            <a:ext cx="12915424" cy="528399"/>
          </a:xfrm>
          <a:prstGeom prst="rect">
            <a:avLst/>
          </a:prstGeom>
          <a:noFill/>
          <a:ln/>
        </p:spPr>
        <p:txBody>
          <a:bodyPr wrap="square" lIns="0" tIns="0" rIns="0" bIns="0" rtlCol="0" anchor="t"/>
          <a:lstStyle/>
          <a:p>
            <a:pPr marL="342900" indent="-342900" algn="l">
              <a:lnSpc>
                <a:spcPts val="1850"/>
              </a:lnSpc>
              <a:buSzPct val="100000"/>
              <a:buChar char="•"/>
            </a:pPr>
            <a:r>
              <a:rPr lang="en-US" sz="1400" dirty="0">
                <a:solidFill>
                  <a:srgbClr val="E2E6E9"/>
                </a:solidFill>
                <a:latin typeface="Source Sans 3" pitchFamily="34" charset="0"/>
                <a:ea typeface="Source Sans 3" pitchFamily="34" charset="-122"/>
                <a:cs typeface="Source Sans 3" pitchFamily="34" charset="-120"/>
              </a:rPr>
              <a:t>Split resolution into width &amp; height</a:t>
            </a:r>
            <a:endParaRPr lang="en-US" sz="1400" dirty="0"/>
          </a:p>
          <a:p>
            <a:pPr marL="342900" indent="-342900" algn="l">
              <a:lnSpc>
                <a:spcPts val="1850"/>
              </a:lnSpc>
              <a:buSzPct val="100000"/>
              <a:buChar char="•"/>
            </a:pPr>
            <a:r>
              <a:rPr lang="en-US" sz="1400" dirty="0">
                <a:solidFill>
                  <a:srgbClr val="E2E6E9"/>
                </a:solidFill>
                <a:latin typeface="Source Sans 3" pitchFamily="34" charset="0"/>
                <a:ea typeface="Source Sans 3" pitchFamily="34" charset="-122"/>
                <a:cs typeface="Source Sans 3" pitchFamily="34" charset="-120"/>
              </a:rPr>
              <a:t>Standardized browser names</a:t>
            </a:r>
            <a:endParaRPr lang="en-US" sz="1400" dirty="0"/>
          </a:p>
        </p:txBody>
      </p:sp>
      <p:sp>
        <p:nvSpPr>
          <p:cNvPr id="10" name="Text 8"/>
          <p:cNvSpPr/>
          <p:nvPr/>
        </p:nvSpPr>
        <p:spPr>
          <a:xfrm>
            <a:off x="857488" y="5316974"/>
            <a:ext cx="3341132" cy="417552"/>
          </a:xfrm>
          <a:prstGeom prst="rect">
            <a:avLst/>
          </a:prstGeom>
          <a:noFill/>
          <a:ln/>
        </p:spPr>
        <p:txBody>
          <a:bodyPr wrap="none" lIns="0" tIns="0" rIns="0" bIns="0" rtlCol="0" anchor="t"/>
          <a:lstStyle/>
          <a:p>
            <a:pPr marL="0" indent="0" algn="l">
              <a:lnSpc>
                <a:spcPts val="3250"/>
              </a:lnSpc>
              <a:buNone/>
            </a:pPr>
            <a:r>
              <a:rPr lang="en-US" sz="2600" b="1" dirty="0">
                <a:solidFill>
                  <a:srgbClr val="FFFFFF"/>
                </a:solidFill>
                <a:latin typeface="Montserrat Bold" pitchFamily="34" charset="0"/>
                <a:ea typeface="Montserrat Bold" pitchFamily="34" charset="-122"/>
                <a:cs typeface="Montserrat Bold" pitchFamily="34" charset="-120"/>
              </a:rPr>
              <a:t>Logic:</a:t>
            </a:r>
            <a:endParaRPr lang="en-US" sz="2600" dirty="0"/>
          </a:p>
        </p:txBody>
      </p:sp>
      <p:sp>
        <p:nvSpPr>
          <p:cNvPr id="11" name="Text 9"/>
          <p:cNvSpPr/>
          <p:nvPr/>
        </p:nvSpPr>
        <p:spPr>
          <a:xfrm>
            <a:off x="857488" y="5939671"/>
            <a:ext cx="12915424" cy="240268"/>
          </a:xfrm>
          <a:prstGeom prst="rect">
            <a:avLst/>
          </a:prstGeom>
          <a:noFill/>
          <a:ln/>
        </p:spPr>
        <p:txBody>
          <a:bodyPr wrap="none" lIns="0" tIns="0" rIns="0" bIns="0" rtlCol="0" anchor="t"/>
          <a:lstStyle/>
          <a:p>
            <a:pPr marL="0" indent="0" algn="l">
              <a:lnSpc>
                <a:spcPts val="1850"/>
              </a:lnSpc>
              <a:buNone/>
            </a:pPr>
            <a:r>
              <a:rPr lang="en-US" sz="1400" dirty="0">
                <a:solidFill>
                  <a:srgbClr val="E2E6E9"/>
                </a:solidFill>
                <a:latin typeface="Source Sans 3" pitchFamily="34" charset="0"/>
                <a:ea typeface="Source Sans 3" pitchFamily="34" charset="-122"/>
                <a:cs typeface="Source Sans 3" pitchFamily="34" charset="-120"/>
              </a:rPr>
              <a:t>Fraud rings often use:</a:t>
            </a:r>
            <a:endParaRPr lang="en-US" sz="1400" dirty="0"/>
          </a:p>
        </p:txBody>
      </p:sp>
      <p:sp>
        <p:nvSpPr>
          <p:cNvPr id="12" name="Text 10"/>
          <p:cNvSpPr/>
          <p:nvPr/>
        </p:nvSpPr>
        <p:spPr>
          <a:xfrm>
            <a:off x="857488" y="6333768"/>
            <a:ext cx="12915424" cy="816531"/>
          </a:xfrm>
          <a:prstGeom prst="rect">
            <a:avLst/>
          </a:prstGeom>
          <a:noFill/>
          <a:ln/>
        </p:spPr>
        <p:txBody>
          <a:bodyPr wrap="square" lIns="0" tIns="0" rIns="0" bIns="0" rtlCol="0" anchor="t"/>
          <a:lstStyle/>
          <a:p>
            <a:pPr marL="342900" indent="-342900" algn="l">
              <a:lnSpc>
                <a:spcPts val="1850"/>
              </a:lnSpc>
              <a:buSzPct val="100000"/>
              <a:buChar char="•"/>
            </a:pPr>
            <a:r>
              <a:rPr lang="en-US" sz="1400" dirty="0">
                <a:solidFill>
                  <a:srgbClr val="E2E6E9"/>
                </a:solidFill>
                <a:latin typeface="Source Sans 3" pitchFamily="34" charset="0"/>
                <a:ea typeface="Source Sans 3" pitchFamily="34" charset="-122"/>
                <a:cs typeface="Source Sans 3" pitchFamily="34" charset="-120"/>
              </a:rPr>
              <a:t>Automated scripts</a:t>
            </a:r>
            <a:endParaRPr lang="en-US" sz="1400" dirty="0"/>
          </a:p>
          <a:p>
            <a:pPr marL="342900" indent="-342900" algn="l">
              <a:lnSpc>
                <a:spcPts val="1850"/>
              </a:lnSpc>
              <a:buSzPct val="100000"/>
              <a:buChar char="•"/>
            </a:pPr>
            <a:r>
              <a:rPr lang="en-US" sz="1400" dirty="0">
                <a:solidFill>
                  <a:srgbClr val="E2E6E9"/>
                </a:solidFill>
                <a:latin typeface="Source Sans 3" pitchFamily="34" charset="0"/>
                <a:ea typeface="Source Sans 3" pitchFamily="34" charset="-122"/>
                <a:cs typeface="Source Sans 3" pitchFamily="34" charset="-120"/>
              </a:rPr>
              <a:t>Emulators</a:t>
            </a:r>
            <a:endParaRPr lang="en-US" sz="1400" dirty="0"/>
          </a:p>
          <a:p>
            <a:pPr marL="342900" indent="-342900" algn="l">
              <a:lnSpc>
                <a:spcPts val="1850"/>
              </a:lnSpc>
              <a:buSzPct val="100000"/>
              <a:buChar char="•"/>
            </a:pPr>
            <a:r>
              <a:rPr lang="en-US" sz="1400" dirty="0">
                <a:solidFill>
                  <a:srgbClr val="E2E6E9"/>
                </a:solidFill>
                <a:latin typeface="Source Sans 3" pitchFamily="34" charset="0"/>
                <a:ea typeface="Source Sans 3" pitchFamily="34" charset="-122"/>
                <a:cs typeface="Source Sans 3" pitchFamily="34" charset="-120"/>
              </a:rPr>
              <a:t>Outdated browsers</a:t>
            </a:r>
            <a:endParaRPr lang="en-US" sz="1400" dirty="0"/>
          </a:p>
        </p:txBody>
      </p:sp>
      <p:sp>
        <p:nvSpPr>
          <p:cNvPr id="13" name="Text 11"/>
          <p:cNvSpPr/>
          <p:nvPr/>
        </p:nvSpPr>
        <p:spPr>
          <a:xfrm>
            <a:off x="857488" y="7304127"/>
            <a:ext cx="12915424" cy="240268"/>
          </a:xfrm>
          <a:prstGeom prst="rect">
            <a:avLst/>
          </a:prstGeom>
          <a:noFill/>
          <a:ln/>
        </p:spPr>
        <p:txBody>
          <a:bodyPr wrap="none" lIns="0" tIns="0" rIns="0" bIns="0" rtlCol="0" anchor="t"/>
          <a:lstStyle/>
          <a:p>
            <a:pPr marL="0" indent="0" algn="l">
              <a:lnSpc>
                <a:spcPts val="1850"/>
              </a:lnSpc>
              <a:buNone/>
            </a:pPr>
            <a:r>
              <a:rPr lang="en-US" sz="1400" b="1" dirty="0">
                <a:solidFill>
                  <a:srgbClr val="E2E6E9"/>
                </a:solidFill>
                <a:latin typeface="Source Sans 3" pitchFamily="34" charset="0"/>
                <a:ea typeface="Source Sans 3" pitchFamily="34" charset="-122"/>
                <a:cs typeface="Source Sans 3" pitchFamily="34" charset="-120"/>
              </a:rPr>
              <a:t>These features capture their technical fingerprint.</a:t>
            </a:r>
            <a:endParaRPr lang="en-US" sz="1400" dirty="0"/>
          </a:p>
        </p:txBody>
      </p:sp>
      <p:pic>
        <p:nvPicPr>
          <p:cNvPr id="15" name="Picture 14">
            <a:extLst>
              <a:ext uri="{FF2B5EF4-FFF2-40B4-BE49-F238E27FC236}">
                <a16:creationId xmlns:a16="http://schemas.microsoft.com/office/drawing/2014/main" id="{ECD4E832-D044-4584-BF3A-D29F2BA82E5C}"/>
              </a:ext>
            </a:extLst>
          </p:cNvPr>
          <p:cNvPicPr>
            <a:picLocks noChangeAspect="1"/>
          </p:cNvPicPr>
          <p:nvPr/>
        </p:nvPicPr>
        <p:blipFill>
          <a:blip r:embed="rId3"/>
          <a:stretch>
            <a:fillRect/>
          </a:stretch>
        </p:blipFill>
        <p:spPr>
          <a:xfrm>
            <a:off x="10802703" y="7258000"/>
            <a:ext cx="3816546" cy="97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63798" y="863679"/>
            <a:ext cx="6682502" cy="525899"/>
          </a:xfrm>
          <a:prstGeom prst="rect">
            <a:avLst/>
          </a:prstGeom>
          <a:noFill/>
          <a:ln/>
        </p:spPr>
        <p:txBody>
          <a:bodyPr wrap="none" lIns="0" tIns="0" rIns="0" bIns="0" rtlCol="0" anchor="t"/>
          <a:lstStyle/>
          <a:p>
            <a:pPr marL="0" indent="0" algn="l">
              <a:lnSpc>
                <a:spcPts val="4100"/>
              </a:lnSpc>
              <a:buNone/>
            </a:pPr>
            <a:r>
              <a:rPr lang="en-US" sz="3300" b="1" dirty="0">
                <a:solidFill>
                  <a:srgbClr val="FFFFFF"/>
                </a:solidFill>
                <a:latin typeface="Montserrat Bold" pitchFamily="34" charset="0"/>
                <a:ea typeface="Montserrat Bold" pitchFamily="34" charset="-122"/>
                <a:cs typeface="Montserrat Bold" pitchFamily="34" charset="-120"/>
              </a:rPr>
              <a:t>7.Hybrid Categorical Encoding</a:t>
            </a:r>
            <a:endParaRPr lang="en-US" sz="3300" dirty="0"/>
          </a:p>
        </p:txBody>
      </p:sp>
      <p:sp>
        <p:nvSpPr>
          <p:cNvPr id="3" name="Shape 1"/>
          <p:cNvSpPr/>
          <p:nvPr/>
        </p:nvSpPr>
        <p:spPr>
          <a:xfrm>
            <a:off x="863798" y="1667232"/>
            <a:ext cx="12902803" cy="1734979"/>
          </a:xfrm>
          <a:prstGeom prst="roundRect">
            <a:avLst>
              <a:gd name="adj" fmla="val 1601"/>
            </a:avLst>
          </a:prstGeom>
          <a:solidFill>
            <a:srgbClr val="1E1F20"/>
          </a:solidFill>
          <a:ln/>
        </p:spPr>
      </p:sp>
      <p:sp>
        <p:nvSpPr>
          <p:cNvPr id="4" name="Shape 2"/>
          <p:cNvSpPr/>
          <p:nvPr/>
        </p:nvSpPr>
        <p:spPr>
          <a:xfrm>
            <a:off x="854631" y="1667232"/>
            <a:ext cx="12921139" cy="1734979"/>
          </a:xfrm>
          <a:prstGeom prst="roundRect">
            <a:avLst>
              <a:gd name="adj" fmla="val 1601"/>
            </a:avLst>
          </a:prstGeom>
          <a:solidFill>
            <a:srgbClr val="1E1F20"/>
          </a:solidFill>
          <a:ln/>
        </p:spPr>
      </p:sp>
      <p:sp>
        <p:nvSpPr>
          <p:cNvPr id="5" name="Text 3"/>
          <p:cNvSpPr/>
          <p:nvPr/>
        </p:nvSpPr>
        <p:spPr>
          <a:xfrm>
            <a:off x="1039654" y="1806059"/>
            <a:ext cx="12551093" cy="1457325"/>
          </a:xfrm>
          <a:prstGeom prst="rect">
            <a:avLst/>
          </a:prstGeom>
          <a:noFill/>
          <a:ln/>
        </p:spPr>
        <p:txBody>
          <a:bodyPr wrap="square" lIns="0" tIns="0" rIns="0" bIns="0" rtlCol="0" anchor="t"/>
          <a:lstStyle/>
          <a:p>
            <a:pPr marL="0" indent="0" algn="l">
              <a:lnSpc>
                <a:spcPts val="1900"/>
              </a:lnSpc>
              <a:buNone/>
            </a:pPr>
            <a:r>
              <a:rPr lang="en-US" sz="1450" dirty="0">
                <a:solidFill>
                  <a:srgbClr val="E2E6E9"/>
                </a:solidFill>
                <a:highlight>
                  <a:srgbClr val="1E1F20"/>
                </a:highlight>
                <a:latin typeface="Consolas" pitchFamily="34" charset="0"/>
                <a:ea typeface="Consolas" pitchFamily="34" charset="-122"/>
                <a:cs typeface="Consolas" pitchFamily="34" charset="-120"/>
              </a:rPr>
              <a:t>if train[col].nunique() &lt;= low_card_thresh:</a:t>
            </a:r>
            <a:endParaRPr lang="en-US" sz="1450" dirty="0"/>
          </a:p>
          <a:p>
            <a:pPr marL="0" indent="0" algn="l">
              <a:lnSpc>
                <a:spcPts val="1900"/>
              </a:lnSpc>
              <a:buNone/>
            </a:pPr>
            <a:r>
              <a:rPr lang="en-US" sz="1450" dirty="0">
                <a:solidFill>
                  <a:srgbClr val="E2E6E9"/>
                </a:solidFill>
                <a:highlight>
                  <a:srgbClr val="1E1F20"/>
                </a:highlight>
                <a:latin typeface="Consolas" pitchFamily="34" charset="0"/>
                <a:ea typeface="Consolas" pitchFamily="34" charset="-122"/>
                <a:cs typeface="Consolas" pitchFamily="34" charset="-120"/>
              </a:rPr>
              <a:t>    dummies = pd.get_dummies(train[col], prefix=col)</a:t>
            </a:r>
            <a:endParaRPr lang="en-US" sz="1450" dirty="0"/>
          </a:p>
          <a:p>
            <a:pPr marL="0" indent="0" algn="l">
              <a:lnSpc>
                <a:spcPts val="1900"/>
              </a:lnSpc>
              <a:buNone/>
            </a:pPr>
            <a:r>
              <a:rPr lang="en-US" sz="1450" dirty="0">
                <a:solidFill>
                  <a:srgbClr val="E2E6E9"/>
                </a:solidFill>
                <a:highlight>
                  <a:srgbClr val="1E1F20"/>
                </a:highlight>
                <a:latin typeface="Consolas" pitchFamily="34" charset="0"/>
                <a:ea typeface="Consolas" pitchFamily="34" charset="-122"/>
                <a:cs typeface="Consolas" pitchFamily="34" charset="-120"/>
              </a:rPr>
              <a:t>else:</a:t>
            </a:r>
            <a:endParaRPr lang="en-US" sz="1450" dirty="0"/>
          </a:p>
          <a:p>
            <a:pPr marL="0" indent="0" algn="l">
              <a:lnSpc>
                <a:spcPts val="1900"/>
              </a:lnSpc>
              <a:buNone/>
            </a:pPr>
            <a:r>
              <a:rPr lang="en-US" sz="1450" dirty="0">
                <a:solidFill>
                  <a:srgbClr val="E2E6E9"/>
                </a:solidFill>
                <a:highlight>
                  <a:srgbClr val="1E1F20"/>
                </a:highlight>
                <a:latin typeface="Consolas" pitchFamily="34" charset="0"/>
                <a:ea typeface="Consolas" pitchFamily="34" charset="-122"/>
                <a:cs typeface="Consolas" pitchFamily="34" charset="-120"/>
              </a:rPr>
              <a:t>    freq = train[col].value_counts() / len(train)</a:t>
            </a:r>
            <a:endParaRPr lang="en-US" sz="1450" dirty="0"/>
          </a:p>
          <a:p>
            <a:pPr marL="0" indent="0" algn="l">
              <a:lnSpc>
                <a:spcPts val="1900"/>
              </a:lnSpc>
              <a:buNone/>
            </a:pPr>
            <a:r>
              <a:rPr lang="en-US" sz="1450" dirty="0">
                <a:solidFill>
                  <a:srgbClr val="E2E6E9"/>
                </a:solidFill>
                <a:highlight>
                  <a:srgbClr val="1E1F20"/>
                </a:highlight>
                <a:latin typeface="Consolas" pitchFamily="34" charset="0"/>
                <a:ea typeface="Consolas" pitchFamily="34" charset="-122"/>
                <a:cs typeface="Consolas" pitchFamily="34" charset="-120"/>
              </a:rPr>
              <a:t>    train[col] = train[col].map(freq)</a:t>
            </a:r>
            <a:endParaRPr lang="en-US" sz="1450" dirty="0"/>
          </a:p>
          <a:p>
            <a:pPr marL="0" indent="0" algn="l">
              <a:lnSpc>
                <a:spcPts val="1900"/>
              </a:lnSpc>
              <a:buNone/>
            </a:pPr>
            <a:r>
              <a:rPr lang="en-US" sz="1450" dirty="0">
                <a:solidFill>
                  <a:srgbClr val="E2E6E9"/>
                </a:solidFill>
                <a:highlight>
                  <a:srgbClr val="1E1F20"/>
                </a:highlight>
                <a:latin typeface="Consolas" pitchFamily="34" charset="0"/>
                <a:ea typeface="Consolas" pitchFamily="34" charset="-122"/>
                <a:cs typeface="Consolas" pitchFamily="34" charset="-120"/>
              </a:rPr>
              <a:t>    </a:t>
            </a:r>
            <a:endParaRPr lang="en-US" sz="1450" dirty="0"/>
          </a:p>
        </p:txBody>
      </p:sp>
      <p:sp>
        <p:nvSpPr>
          <p:cNvPr id="6" name="Text 4"/>
          <p:cNvSpPr/>
          <p:nvPr/>
        </p:nvSpPr>
        <p:spPr>
          <a:xfrm>
            <a:off x="863798" y="3610451"/>
            <a:ext cx="2103596" cy="262890"/>
          </a:xfrm>
          <a:prstGeom prst="rect">
            <a:avLst/>
          </a:prstGeom>
          <a:noFill/>
          <a:ln/>
        </p:spPr>
        <p:txBody>
          <a:bodyPr wrap="none" lIns="0" tIns="0" rIns="0" bIns="0" rtlCol="0" anchor="t"/>
          <a:lstStyle/>
          <a:p>
            <a:pPr marL="0" indent="0" algn="l">
              <a:lnSpc>
                <a:spcPts val="2050"/>
              </a:lnSpc>
              <a:buNone/>
            </a:pPr>
            <a:r>
              <a:rPr lang="en-US" sz="1650" b="1" dirty="0">
                <a:solidFill>
                  <a:srgbClr val="FFFFFF"/>
                </a:solidFill>
                <a:latin typeface="Montserrat Bold" pitchFamily="34" charset="0"/>
                <a:ea typeface="Montserrat Bold" pitchFamily="34" charset="-122"/>
                <a:cs typeface="Montserrat Bold" pitchFamily="34" charset="-120"/>
              </a:rPr>
              <a:t>Explanation:</a:t>
            </a:r>
            <a:endParaRPr lang="en-US" sz="1650" dirty="0"/>
          </a:p>
        </p:txBody>
      </p:sp>
      <p:sp>
        <p:nvSpPr>
          <p:cNvPr id="7" name="Text 5"/>
          <p:cNvSpPr/>
          <p:nvPr/>
        </p:nvSpPr>
        <p:spPr>
          <a:xfrm>
            <a:off x="863798" y="4081582"/>
            <a:ext cx="12902803" cy="242888"/>
          </a:xfrm>
          <a:prstGeom prst="rect">
            <a:avLst/>
          </a:prstGeom>
          <a:noFill/>
          <a:ln/>
        </p:spPr>
        <p:txBody>
          <a:bodyPr wrap="none" lIns="0" tIns="0" rIns="0" bIns="0" rtlCol="0" anchor="t"/>
          <a:lstStyle/>
          <a:p>
            <a:pPr marL="0" indent="0" algn="l">
              <a:lnSpc>
                <a:spcPts val="1900"/>
              </a:lnSpc>
              <a:buNone/>
            </a:pPr>
            <a:r>
              <a:rPr lang="en-US" sz="1450" dirty="0">
                <a:solidFill>
                  <a:srgbClr val="E2E6E9"/>
                </a:solidFill>
                <a:latin typeface="Source Sans 3" pitchFamily="34" charset="0"/>
                <a:ea typeface="Source Sans 3" pitchFamily="34" charset="-122"/>
                <a:cs typeface="Source Sans 3" pitchFamily="34" charset="-120"/>
              </a:rPr>
              <a:t>If categories are small → One-Hot Encoding</a:t>
            </a:r>
            <a:endParaRPr lang="en-US" sz="1450" dirty="0"/>
          </a:p>
        </p:txBody>
      </p:sp>
      <p:sp>
        <p:nvSpPr>
          <p:cNvPr id="8" name="Text 6"/>
          <p:cNvSpPr/>
          <p:nvPr/>
        </p:nvSpPr>
        <p:spPr>
          <a:xfrm>
            <a:off x="863798" y="4480560"/>
            <a:ext cx="12902803" cy="242888"/>
          </a:xfrm>
          <a:prstGeom prst="rect">
            <a:avLst/>
          </a:prstGeom>
          <a:noFill/>
          <a:ln/>
        </p:spPr>
        <p:txBody>
          <a:bodyPr wrap="none" lIns="0" tIns="0" rIns="0" bIns="0" rtlCol="0" anchor="t"/>
          <a:lstStyle/>
          <a:p>
            <a:pPr marL="0" indent="0" algn="l">
              <a:lnSpc>
                <a:spcPts val="1900"/>
              </a:lnSpc>
              <a:buNone/>
            </a:pPr>
            <a:r>
              <a:rPr lang="en-US" sz="1450" dirty="0">
                <a:solidFill>
                  <a:srgbClr val="E2E6E9"/>
                </a:solidFill>
                <a:latin typeface="Source Sans 3" pitchFamily="34" charset="0"/>
                <a:ea typeface="Source Sans 3" pitchFamily="34" charset="-122"/>
                <a:cs typeface="Source Sans 3" pitchFamily="34" charset="-120"/>
              </a:rPr>
              <a:t>If categories are large → Frequency Encoding</a:t>
            </a:r>
            <a:endParaRPr lang="en-US" sz="1450" dirty="0"/>
          </a:p>
        </p:txBody>
      </p:sp>
      <p:sp>
        <p:nvSpPr>
          <p:cNvPr id="9" name="Text 7"/>
          <p:cNvSpPr/>
          <p:nvPr/>
        </p:nvSpPr>
        <p:spPr>
          <a:xfrm>
            <a:off x="863798" y="4931688"/>
            <a:ext cx="2103596" cy="262890"/>
          </a:xfrm>
          <a:prstGeom prst="rect">
            <a:avLst/>
          </a:prstGeom>
          <a:noFill/>
          <a:ln/>
        </p:spPr>
        <p:txBody>
          <a:bodyPr wrap="none" lIns="0" tIns="0" rIns="0" bIns="0" rtlCol="0" anchor="t"/>
          <a:lstStyle/>
          <a:p>
            <a:pPr marL="0" indent="0" algn="l">
              <a:lnSpc>
                <a:spcPts val="2050"/>
              </a:lnSpc>
              <a:buNone/>
            </a:pPr>
            <a:r>
              <a:rPr lang="en-US" sz="1650" b="1" dirty="0">
                <a:solidFill>
                  <a:srgbClr val="FFFFFF"/>
                </a:solidFill>
                <a:latin typeface="Montserrat Bold" pitchFamily="34" charset="0"/>
                <a:ea typeface="Montserrat Bold" pitchFamily="34" charset="-122"/>
                <a:cs typeface="Montserrat Bold" pitchFamily="34" charset="-120"/>
              </a:rPr>
              <a:t>Logic:</a:t>
            </a:r>
            <a:endParaRPr lang="en-US" sz="1650" dirty="0"/>
          </a:p>
        </p:txBody>
      </p:sp>
      <p:sp>
        <p:nvSpPr>
          <p:cNvPr id="10" name="Text 8"/>
          <p:cNvSpPr/>
          <p:nvPr/>
        </p:nvSpPr>
        <p:spPr>
          <a:xfrm>
            <a:off x="863798" y="5402818"/>
            <a:ext cx="12902803" cy="242888"/>
          </a:xfrm>
          <a:prstGeom prst="rect">
            <a:avLst/>
          </a:prstGeom>
          <a:noFill/>
          <a:ln/>
        </p:spPr>
        <p:txBody>
          <a:bodyPr wrap="none" lIns="0" tIns="0" rIns="0" bIns="0" rtlCol="0" anchor="t"/>
          <a:lstStyle/>
          <a:p>
            <a:pPr marL="0" indent="0" algn="l">
              <a:lnSpc>
                <a:spcPts val="1900"/>
              </a:lnSpc>
              <a:buNone/>
            </a:pPr>
            <a:r>
              <a:rPr lang="en-US" sz="1450" dirty="0">
                <a:solidFill>
                  <a:srgbClr val="E2E6E9"/>
                </a:solidFill>
                <a:latin typeface="Source Sans 3" pitchFamily="34" charset="0"/>
                <a:ea typeface="Source Sans 3" pitchFamily="34" charset="-122"/>
                <a:cs typeface="Source Sans 3" pitchFamily="34" charset="-120"/>
              </a:rPr>
              <a:t>Models need numbers, not text.</a:t>
            </a:r>
            <a:endParaRPr lang="en-US" sz="1450" dirty="0"/>
          </a:p>
        </p:txBody>
      </p:sp>
      <p:sp>
        <p:nvSpPr>
          <p:cNvPr id="11" name="Text 9"/>
          <p:cNvSpPr/>
          <p:nvPr/>
        </p:nvSpPr>
        <p:spPr>
          <a:xfrm>
            <a:off x="863798" y="5801797"/>
            <a:ext cx="12902803" cy="242888"/>
          </a:xfrm>
          <a:prstGeom prst="rect">
            <a:avLst/>
          </a:prstGeom>
          <a:noFill/>
          <a:ln/>
        </p:spPr>
        <p:txBody>
          <a:bodyPr wrap="none" lIns="0" tIns="0" rIns="0" bIns="0" rtlCol="0" anchor="t"/>
          <a:lstStyle/>
          <a:p>
            <a:pPr marL="0" indent="0" algn="l">
              <a:lnSpc>
                <a:spcPts val="1900"/>
              </a:lnSpc>
              <a:buNone/>
            </a:pPr>
            <a:r>
              <a:rPr lang="en-US" sz="1450" dirty="0">
                <a:solidFill>
                  <a:srgbClr val="E2E6E9"/>
                </a:solidFill>
                <a:latin typeface="Source Sans 3" pitchFamily="34" charset="0"/>
                <a:ea typeface="Source Sans 3" pitchFamily="34" charset="-122"/>
                <a:cs typeface="Source Sans 3" pitchFamily="34" charset="-120"/>
              </a:rPr>
              <a:t>We can't create 5000 columns for email domains.</a:t>
            </a:r>
            <a:endParaRPr lang="en-US" sz="1450" dirty="0"/>
          </a:p>
        </p:txBody>
      </p:sp>
      <p:sp>
        <p:nvSpPr>
          <p:cNvPr id="12" name="Text 10"/>
          <p:cNvSpPr/>
          <p:nvPr/>
        </p:nvSpPr>
        <p:spPr>
          <a:xfrm>
            <a:off x="863798" y="6200775"/>
            <a:ext cx="12902803" cy="242888"/>
          </a:xfrm>
          <a:prstGeom prst="rect">
            <a:avLst/>
          </a:prstGeom>
          <a:noFill/>
          <a:ln/>
        </p:spPr>
        <p:txBody>
          <a:bodyPr wrap="none" lIns="0" tIns="0" rIns="0" bIns="0" rtlCol="0" anchor="t"/>
          <a:lstStyle/>
          <a:p>
            <a:pPr marL="0" indent="0" algn="l">
              <a:lnSpc>
                <a:spcPts val="1900"/>
              </a:lnSpc>
              <a:buNone/>
            </a:pPr>
            <a:r>
              <a:rPr lang="en-US" sz="1450" dirty="0">
                <a:solidFill>
                  <a:srgbClr val="E2E6E9"/>
                </a:solidFill>
                <a:latin typeface="Source Sans 3" pitchFamily="34" charset="0"/>
                <a:ea typeface="Source Sans 3" pitchFamily="34" charset="-122"/>
                <a:cs typeface="Source Sans 3" pitchFamily="34" charset="-120"/>
              </a:rPr>
              <a:t>So we convert high-cardinality text into meaningful numeric frequency scores.</a:t>
            </a:r>
            <a:endParaRPr lang="en-US" sz="1450" dirty="0"/>
          </a:p>
        </p:txBody>
      </p:sp>
      <p:sp>
        <p:nvSpPr>
          <p:cNvPr id="13" name="Text 11"/>
          <p:cNvSpPr/>
          <p:nvPr/>
        </p:nvSpPr>
        <p:spPr>
          <a:xfrm>
            <a:off x="863798" y="6651903"/>
            <a:ext cx="2103596" cy="262890"/>
          </a:xfrm>
          <a:prstGeom prst="rect">
            <a:avLst/>
          </a:prstGeom>
          <a:noFill/>
          <a:ln/>
        </p:spPr>
        <p:txBody>
          <a:bodyPr wrap="none" lIns="0" tIns="0" rIns="0" bIns="0" rtlCol="0" anchor="t"/>
          <a:lstStyle/>
          <a:p>
            <a:pPr marL="0" indent="0" algn="l">
              <a:lnSpc>
                <a:spcPts val="2050"/>
              </a:lnSpc>
              <a:buNone/>
            </a:pPr>
            <a:r>
              <a:rPr lang="en-US" sz="1650" b="1" dirty="0">
                <a:solidFill>
                  <a:srgbClr val="FFFFFF"/>
                </a:solidFill>
                <a:latin typeface="Montserrat Bold" pitchFamily="34" charset="0"/>
                <a:ea typeface="Montserrat Bold" pitchFamily="34" charset="-122"/>
                <a:cs typeface="Montserrat Bold" pitchFamily="34" charset="-120"/>
              </a:rPr>
              <a:t>Benefit:</a:t>
            </a:r>
            <a:endParaRPr lang="en-US" sz="1650" dirty="0"/>
          </a:p>
        </p:txBody>
      </p:sp>
      <p:sp>
        <p:nvSpPr>
          <p:cNvPr id="14" name="Text 12"/>
          <p:cNvSpPr/>
          <p:nvPr/>
        </p:nvSpPr>
        <p:spPr>
          <a:xfrm>
            <a:off x="863798" y="7123033"/>
            <a:ext cx="12902803" cy="242888"/>
          </a:xfrm>
          <a:prstGeom prst="rect">
            <a:avLst/>
          </a:prstGeom>
          <a:noFill/>
          <a:ln/>
        </p:spPr>
        <p:txBody>
          <a:bodyPr wrap="none" lIns="0" tIns="0" rIns="0" bIns="0" rtlCol="0" anchor="t"/>
          <a:lstStyle/>
          <a:p>
            <a:pPr marL="0" indent="0" algn="l">
              <a:lnSpc>
                <a:spcPts val="1900"/>
              </a:lnSpc>
              <a:buNone/>
            </a:pPr>
            <a:r>
              <a:rPr lang="en-US" sz="1450" b="1" dirty="0">
                <a:solidFill>
                  <a:srgbClr val="E2E6E9"/>
                </a:solidFill>
                <a:latin typeface="Source Sans 3" pitchFamily="34" charset="0"/>
                <a:ea typeface="Source Sans 3" pitchFamily="34" charset="-122"/>
                <a:cs typeface="Source Sans 3" pitchFamily="34" charset="-120"/>
              </a:rPr>
              <a:t>Efficient, scalable, and model-friendly.</a:t>
            </a:r>
            <a:endParaRPr lang="en-US" sz="1450" dirty="0"/>
          </a:p>
        </p:txBody>
      </p:sp>
      <p:pic>
        <p:nvPicPr>
          <p:cNvPr id="16" name="Picture 15">
            <a:extLst>
              <a:ext uri="{FF2B5EF4-FFF2-40B4-BE49-F238E27FC236}">
                <a16:creationId xmlns:a16="http://schemas.microsoft.com/office/drawing/2014/main" id="{8A63F3BB-2427-4573-9F3A-3BA81D531862}"/>
              </a:ext>
            </a:extLst>
          </p:cNvPr>
          <p:cNvPicPr>
            <a:picLocks noChangeAspect="1"/>
          </p:cNvPicPr>
          <p:nvPr/>
        </p:nvPicPr>
        <p:blipFill>
          <a:blip r:embed="rId3"/>
          <a:stretch>
            <a:fillRect/>
          </a:stretch>
        </p:blipFill>
        <p:spPr>
          <a:xfrm>
            <a:off x="10813854" y="7244477"/>
            <a:ext cx="3816546" cy="97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63798" y="1904524"/>
            <a:ext cx="12902803" cy="1402556"/>
          </a:xfrm>
          <a:prstGeom prst="rect">
            <a:avLst/>
          </a:prstGeom>
          <a:noFill/>
          <a:ln/>
        </p:spPr>
        <p:txBody>
          <a:bodyPr wrap="square" lIns="0" tIns="0" rIns="0" bIns="0" rtlCol="0" anchor="t"/>
          <a:lstStyle/>
          <a:p>
            <a:pPr marL="0" indent="0" algn="l">
              <a:lnSpc>
                <a:spcPts val="5500"/>
              </a:lnSpc>
              <a:buNone/>
            </a:pPr>
            <a:r>
              <a:rPr lang="en-US" sz="4400" b="1" dirty="0">
                <a:solidFill>
                  <a:srgbClr val="FFFFFF"/>
                </a:solidFill>
                <a:latin typeface="Montserrat Bold" pitchFamily="34" charset="0"/>
                <a:ea typeface="Montserrat Bold" pitchFamily="34" charset="-122"/>
                <a:cs typeface="Montserrat Bold" pitchFamily="34" charset="-120"/>
              </a:rPr>
              <a:t>HOW WE HANDLED IMBALACMENT OF DATA?</a:t>
            </a:r>
            <a:endParaRPr lang="en-US" sz="4400" dirty="0"/>
          </a:p>
        </p:txBody>
      </p:sp>
      <p:sp>
        <p:nvSpPr>
          <p:cNvPr id="3" name="Text 1"/>
          <p:cNvSpPr/>
          <p:nvPr/>
        </p:nvSpPr>
        <p:spPr>
          <a:xfrm>
            <a:off x="863798" y="3405783"/>
            <a:ext cx="3365778" cy="420648"/>
          </a:xfrm>
          <a:prstGeom prst="rect">
            <a:avLst/>
          </a:prstGeom>
          <a:noFill/>
          <a:ln/>
        </p:spPr>
        <p:txBody>
          <a:bodyPr wrap="none" lIns="0" tIns="0" rIns="0" bIns="0" rtlCol="0" anchor="t"/>
          <a:lstStyle/>
          <a:p>
            <a:pPr marL="0" indent="0" algn="l">
              <a:lnSpc>
                <a:spcPts val="3300"/>
              </a:lnSpc>
              <a:buNone/>
            </a:pPr>
            <a:r>
              <a:rPr lang="en-US" sz="2650" b="1" dirty="0">
                <a:solidFill>
                  <a:srgbClr val="FFFFFF"/>
                </a:solidFill>
                <a:latin typeface="Montserrat Bold" pitchFamily="34" charset="0"/>
                <a:ea typeface="Montserrat Bold" pitchFamily="34" charset="-122"/>
                <a:cs typeface="Montserrat Bold" pitchFamily="34" charset="-120"/>
              </a:rPr>
              <a:t>BY USING:</a:t>
            </a:r>
            <a:endParaRPr lang="en-US" sz="2650" dirty="0"/>
          </a:p>
        </p:txBody>
      </p:sp>
      <p:sp>
        <p:nvSpPr>
          <p:cNvPr id="4" name="Shape 2"/>
          <p:cNvSpPr/>
          <p:nvPr/>
        </p:nvSpPr>
        <p:spPr>
          <a:xfrm>
            <a:off x="863798" y="4196596"/>
            <a:ext cx="12902803" cy="740212"/>
          </a:xfrm>
          <a:prstGeom prst="roundRect">
            <a:avLst>
              <a:gd name="adj" fmla="val 5002"/>
            </a:avLst>
          </a:prstGeom>
          <a:solidFill>
            <a:srgbClr val="1E1F20"/>
          </a:solidFill>
          <a:ln/>
        </p:spPr>
      </p:sp>
      <p:sp>
        <p:nvSpPr>
          <p:cNvPr id="5" name="Shape 3"/>
          <p:cNvSpPr/>
          <p:nvPr/>
        </p:nvSpPr>
        <p:spPr>
          <a:xfrm>
            <a:off x="851535" y="4196596"/>
            <a:ext cx="12927330" cy="740212"/>
          </a:xfrm>
          <a:prstGeom prst="roundRect">
            <a:avLst>
              <a:gd name="adj" fmla="val 5002"/>
            </a:avLst>
          </a:prstGeom>
          <a:solidFill>
            <a:srgbClr val="1E1F20"/>
          </a:solidFill>
          <a:ln/>
        </p:spPr>
      </p:sp>
      <p:sp>
        <p:nvSpPr>
          <p:cNvPr id="6" name="Text 4"/>
          <p:cNvSpPr/>
          <p:nvPr/>
        </p:nvSpPr>
        <p:spPr>
          <a:xfrm>
            <a:off x="1098352" y="4381619"/>
            <a:ext cx="12433697" cy="370165"/>
          </a:xfrm>
          <a:prstGeom prst="rect">
            <a:avLst/>
          </a:prstGeom>
          <a:noFill/>
          <a:ln/>
        </p:spPr>
        <p:txBody>
          <a:bodyPr wrap="none" lIns="0" tIns="0" rIns="0" bIns="0" rtlCol="0" anchor="t"/>
          <a:lstStyle/>
          <a:p>
            <a:pPr marL="0" indent="0" algn="l">
              <a:lnSpc>
                <a:spcPts val="2900"/>
              </a:lnSpc>
              <a:buNone/>
            </a:pPr>
            <a:r>
              <a:rPr lang="en-US" sz="1900" dirty="0">
                <a:solidFill>
                  <a:srgbClr val="E2E6E9"/>
                </a:solidFill>
                <a:highlight>
                  <a:srgbClr val="1E1F20"/>
                </a:highlight>
                <a:latin typeface="Consolas" pitchFamily="34" charset="0"/>
                <a:ea typeface="Consolas" pitchFamily="34" charset="-122"/>
                <a:cs typeface="Consolas" pitchFamily="34" charset="-120"/>
              </a:rPr>
              <a:t>scale_pos_weight = (normal_count / fraud_count)</a:t>
            </a:r>
            <a:endParaRPr lang="en-US" sz="1900" dirty="0"/>
          </a:p>
        </p:txBody>
      </p:sp>
      <p:sp>
        <p:nvSpPr>
          <p:cNvPr id="7" name="Text 5"/>
          <p:cNvSpPr/>
          <p:nvPr/>
        </p:nvSpPr>
        <p:spPr>
          <a:xfrm>
            <a:off x="863798" y="5214461"/>
            <a:ext cx="12902803" cy="1110496"/>
          </a:xfrm>
          <a:prstGeom prst="rect">
            <a:avLst/>
          </a:prstGeom>
          <a:noFill/>
          <a:ln/>
        </p:spPr>
        <p:txBody>
          <a:bodyPr wrap="square" lIns="0" tIns="0" rIns="0" bIns="0" rtlCol="0" anchor="t"/>
          <a:lstStyle/>
          <a:p>
            <a:pPr marL="0" indent="0" algn="l">
              <a:lnSpc>
                <a:spcPts val="2900"/>
              </a:lnSpc>
              <a:buNone/>
            </a:pPr>
            <a:r>
              <a:rPr lang="en-US" sz="1900" b="1" dirty="0">
                <a:solidFill>
                  <a:srgbClr val="E2E6E9"/>
                </a:solidFill>
                <a:latin typeface="Source Sans 3" pitchFamily="34" charset="0"/>
                <a:ea typeface="Source Sans 3" pitchFamily="34" charset="-122"/>
                <a:cs typeface="Source Sans 3" pitchFamily="34" charset="-120"/>
              </a:rPr>
              <a:t>What this does:</a:t>
            </a:r>
            <a:r>
              <a:rPr lang="en-US" sz="1900" dirty="0">
                <a:solidFill>
                  <a:srgbClr val="E2E6E9"/>
                </a:solidFill>
                <a:latin typeface="Source Sans 3" pitchFamily="34" charset="0"/>
                <a:ea typeface="Source Sans 3" pitchFamily="34" charset="-122"/>
                <a:cs typeface="Source Sans 3" pitchFamily="34" charset="-120"/>
              </a:rPr>
              <a:t> This makes the model pay more attention to the rare cases of fraud. Normally, the model sees so many normal transactions that it might ignore the few fraudulent ones. By doing this, we make mistakes on fraud cases "feel" more costly to the model, so it learns to treat them more seriously</a:t>
            </a:r>
            <a:endParaRPr lang="en-US" sz="1900" dirty="0"/>
          </a:p>
        </p:txBody>
      </p:sp>
      <p:pic>
        <p:nvPicPr>
          <p:cNvPr id="9" name="Picture 8">
            <a:extLst>
              <a:ext uri="{FF2B5EF4-FFF2-40B4-BE49-F238E27FC236}">
                <a16:creationId xmlns:a16="http://schemas.microsoft.com/office/drawing/2014/main" id="{B19DB053-F88A-4C2A-8B8B-43F402948E0F}"/>
              </a:ext>
            </a:extLst>
          </p:cNvPr>
          <p:cNvPicPr>
            <a:picLocks noChangeAspect="1"/>
          </p:cNvPicPr>
          <p:nvPr/>
        </p:nvPicPr>
        <p:blipFill>
          <a:blip r:embed="rId3"/>
          <a:stretch>
            <a:fillRect/>
          </a:stretch>
        </p:blipFill>
        <p:spPr>
          <a:xfrm>
            <a:off x="10813854" y="7258000"/>
            <a:ext cx="3816546" cy="97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198" y="2449592"/>
            <a:ext cx="5798701" cy="701278"/>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Montserrat Bold" pitchFamily="34" charset="0"/>
                <a:ea typeface="Montserrat Bold" pitchFamily="34" charset="-122"/>
                <a:cs typeface="Montserrat Bold" pitchFamily="34" charset="-120"/>
              </a:rPr>
              <a:t>MODEL SELECTION:</a:t>
            </a:r>
            <a:endParaRPr lang="en-US" sz="4400" dirty="0"/>
          </a:p>
        </p:txBody>
      </p:sp>
      <p:sp>
        <p:nvSpPr>
          <p:cNvPr id="4" name="Text 1"/>
          <p:cNvSpPr/>
          <p:nvPr/>
        </p:nvSpPr>
        <p:spPr>
          <a:xfrm>
            <a:off x="6350198" y="3249573"/>
            <a:ext cx="4720709" cy="420648"/>
          </a:xfrm>
          <a:prstGeom prst="rect">
            <a:avLst/>
          </a:prstGeom>
          <a:noFill/>
          <a:ln/>
        </p:spPr>
        <p:txBody>
          <a:bodyPr wrap="none" lIns="0" tIns="0" rIns="0" bIns="0" rtlCol="0" anchor="t"/>
          <a:lstStyle/>
          <a:p>
            <a:pPr marL="0" indent="0" algn="l">
              <a:lnSpc>
                <a:spcPts val="3300"/>
              </a:lnSpc>
              <a:buNone/>
            </a:pPr>
            <a:r>
              <a:rPr lang="en-US" sz="2650" b="1" dirty="0">
                <a:solidFill>
                  <a:srgbClr val="FFFFFF"/>
                </a:solidFill>
                <a:latin typeface="Montserrat Bold" pitchFamily="34" charset="0"/>
                <a:ea typeface="Montserrat Bold" pitchFamily="34" charset="-122"/>
                <a:cs typeface="Montserrat Bold" pitchFamily="34" charset="-120"/>
              </a:rPr>
              <a:t>Why I Chosed XGBoost?</a:t>
            </a:r>
            <a:endParaRPr lang="en-US" sz="2650" dirty="0"/>
          </a:p>
        </p:txBody>
      </p:sp>
      <p:sp>
        <p:nvSpPr>
          <p:cNvPr id="5" name="Text 2"/>
          <p:cNvSpPr/>
          <p:nvPr/>
        </p:nvSpPr>
        <p:spPr>
          <a:xfrm>
            <a:off x="6350198" y="4040386"/>
            <a:ext cx="7416403" cy="1739622"/>
          </a:xfrm>
          <a:prstGeom prst="rect">
            <a:avLst/>
          </a:prstGeom>
          <a:noFill/>
          <a:ln/>
        </p:spPr>
        <p:txBody>
          <a:bodyPr wrap="square" lIns="0" tIns="0" rIns="0" bIns="0" rtlCol="0" anchor="t"/>
          <a:lstStyle/>
          <a:p>
            <a:pPr marL="342900" indent="-342900" algn="l">
              <a:lnSpc>
                <a:spcPts val="2900"/>
              </a:lnSpc>
              <a:buSzPct val="100000"/>
              <a:buChar char="•"/>
            </a:pPr>
            <a:r>
              <a:rPr lang="en-US" sz="1900" dirty="0">
                <a:solidFill>
                  <a:srgbClr val="E2E6E9"/>
                </a:solidFill>
                <a:latin typeface="Source Sans 3" pitchFamily="34" charset="0"/>
                <a:ea typeface="Source Sans 3" pitchFamily="34" charset="-122"/>
                <a:cs typeface="Source Sans 3" pitchFamily="34" charset="-120"/>
              </a:rPr>
              <a:t>Excellent for tabular data</a:t>
            </a:r>
            <a:endParaRPr lang="en-US" sz="1900" dirty="0"/>
          </a:p>
          <a:p>
            <a:pPr marL="342900" indent="-342900" algn="l">
              <a:lnSpc>
                <a:spcPts val="2900"/>
              </a:lnSpc>
              <a:buSzPct val="100000"/>
              <a:buChar char="•"/>
            </a:pPr>
            <a:r>
              <a:rPr lang="en-US" sz="1900" dirty="0">
                <a:solidFill>
                  <a:srgbClr val="E2E6E9"/>
                </a:solidFill>
                <a:latin typeface="Source Sans 3" pitchFamily="34" charset="0"/>
                <a:ea typeface="Source Sans 3" pitchFamily="34" charset="-122"/>
                <a:cs typeface="Source Sans 3" pitchFamily="34" charset="-120"/>
              </a:rPr>
              <a:t>Handles missing values well</a:t>
            </a:r>
            <a:endParaRPr lang="en-US" sz="1900" dirty="0"/>
          </a:p>
          <a:p>
            <a:pPr marL="342900" indent="-342900" algn="l">
              <a:lnSpc>
                <a:spcPts val="2900"/>
              </a:lnSpc>
              <a:buSzPct val="100000"/>
              <a:buChar char="•"/>
            </a:pPr>
            <a:r>
              <a:rPr lang="en-US" sz="1900" dirty="0">
                <a:solidFill>
                  <a:srgbClr val="E2E6E9"/>
                </a:solidFill>
                <a:latin typeface="Source Sans 3" pitchFamily="34" charset="0"/>
                <a:ea typeface="Source Sans 3" pitchFamily="34" charset="-122"/>
                <a:cs typeface="Source Sans 3" pitchFamily="34" charset="-120"/>
              </a:rPr>
              <a:t>Fast and powerful</a:t>
            </a:r>
            <a:endParaRPr lang="en-US" sz="1900" dirty="0"/>
          </a:p>
          <a:p>
            <a:pPr marL="342900" indent="-342900" algn="l">
              <a:lnSpc>
                <a:spcPts val="2900"/>
              </a:lnSpc>
              <a:buSzPct val="100000"/>
              <a:buChar char="•"/>
            </a:pPr>
            <a:r>
              <a:rPr lang="en-US" sz="1900" dirty="0">
                <a:solidFill>
                  <a:srgbClr val="E2E6E9"/>
                </a:solidFill>
                <a:latin typeface="Source Sans 3" pitchFamily="34" charset="0"/>
                <a:ea typeface="Source Sans 3" pitchFamily="34" charset="-122"/>
                <a:cs typeface="Source Sans 3" pitchFamily="34" charset="-120"/>
              </a:rPr>
              <a:t>Strong performance in Kaggle competitions</a:t>
            </a:r>
            <a:endParaRPr lang="en-US" sz="1900" dirty="0"/>
          </a:p>
        </p:txBody>
      </p:sp>
      <p:pic>
        <p:nvPicPr>
          <p:cNvPr id="7" name="Picture 6">
            <a:extLst>
              <a:ext uri="{FF2B5EF4-FFF2-40B4-BE49-F238E27FC236}">
                <a16:creationId xmlns:a16="http://schemas.microsoft.com/office/drawing/2014/main" id="{A2AF0BD1-3309-4CF0-A9D9-296ECC836C57}"/>
              </a:ext>
            </a:extLst>
          </p:cNvPr>
          <p:cNvPicPr>
            <a:picLocks noChangeAspect="1"/>
          </p:cNvPicPr>
          <p:nvPr/>
        </p:nvPicPr>
        <p:blipFill>
          <a:blip r:embed="rId4"/>
          <a:stretch>
            <a:fillRect/>
          </a:stretch>
        </p:blipFill>
        <p:spPr>
          <a:xfrm>
            <a:off x="10813854" y="7258000"/>
            <a:ext cx="3816546" cy="97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622471"/>
          </a:xfrm>
          <a:prstGeom prst="rect">
            <a:avLst/>
          </a:prstGeom>
        </p:spPr>
      </p:pic>
      <p:sp>
        <p:nvSpPr>
          <p:cNvPr id="3" name="Text 0"/>
          <p:cNvSpPr/>
          <p:nvPr/>
        </p:nvSpPr>
        <p:spPr>
          <a:xfrm>
            <a:off x="863798" y="3449479"/>
            <a:ext cx="4768334" cy="596027"/>
          </a:xfrm>
          <a:prstGeom prst="rect">
            <a:avLst/>
          </a:prstGeom>
          <a:noFill/>
          <a:ln/>
        </p:spPr>
        <p:txBody>
          <a:bodyPr wrap="none" lIns="0" tIns="0" rIns="0" bIns="0" rtlCol="0" anchor="t"/>
          <a:lstStyle/>
          <a:p>
            <a:pPr marL="0" indent="0" algn="l">
              <a:lnSpc>
                <a:spcPts val="4650"/>
              </a:lnSpc>
              <a:buNone/>
            </a:pPr>
            <a:r>
              <a:rPr lang="en-US" sz="3750" b="1" dirty="0">
                <a:solidFill>
                  <a:srgbClr val="FFFFFF"/>
                </a:solidFill>
                <a:latin typeface="Montserrat Bold" pitchFamily="34" charset="0"/>
                <a:ea typeface="Montserrat Bold" pitchFamily="34" charset="-122"/>
                <a:cs typeface="Montserrat Bold" pitchFamily="34" charset="-120"/>
              </a:rPr>
              <a:t>Model Evaluation:</a:t>
            </a:r>
            <a:endParaRPr lang="en-US" sz="3750" dirty="0"/>
          </a:p>
        </p:txBody>
      </p:sp>
      <p:sp>
        <p:nvSpPr>
          <p:cNvPr id="4" name="Text 1"/>
          <p:cNvSpPr/>
          <p:nvPr/>
        </p:nvSpPr>
        <p:spPr>
          <a:xfrm>
            <a:off x="863798" y="4116824"/>
            <a:ext cx="5871091" cy="476845"/>
          </a:xfrm>
          <a:prstGeom prst="rect">
            <a:avLst/>
          </a:prstGeom>
          <a:noFill/>
          <a:ln/>
        </p:spPr>
        <p:txBody>
          <a:bodyPr wrap="none" lIns="0" tIns="0" rIns="0" bIns="0" rtlCol="0" anchor="t"/>
          <a:lstStyle/>
          <a:p>
            <a:pPr marL="0" indent="0" algn="l">
              <a:lnSpc>
                <a:spcPts val="3750"/>
              </a:lnSpc>
              <a:buNone/>
            </a:pPr>
            <a:r>
              <a:rPr lang="en-US" sz="3000" b="1" dirty="0">
                <a:solidFill>
                  <a:srgbClr val="FFFFFF"/>
                </a:solidFill>
                <a:latin typeface="Montserrat Bold" pitchFamily="34" charset="0"/>
                <a:ea typeface="Montserrat Bold" pitchFamily="34" charset="-122"/>
                <a:cs typeface="Montserrat Bold" pitchFamily="34" charset="-120"/>
              </a:rPr>
              <a:t>Final Performance Highlights</a:t>
            </a:r>
            <a:endParaRPr lang="en-US" sz="3000" dirty="0"/>
          </a:p>
        </p:txBody>
      </p:sp>
      <p:sp>
        <p:nvSpPr>
          <p:cNvPr id="5" name="Shape 2"/>
          <p:cNvSpPr/>
          <p:nvPr/>
        </p:nvSpPr>
        <p:spPr>
          <a:xfrm>
            <a:off x="863798" y="4861084"/>
            <a:ext cx="6362224" cy="2049899"/>
          </a:xfrm>
          <a:prstGeom prst="roundRect">
            <a:avLst>
              <a:gd name="adj" fmla="val 1535"/>
            </a:avLst>
          </a:prstGeom>
          <a:solidFill>
            <a:srgbClr val="111213"/>
          </a:solidFill>
          <a:ln w="22860">
            <a:solidFill>
              <a:srgbClr val="494A4B"/>
            </a:solidFill>
            <a:prstDash val="solid"/>
          </a:ln>
        </p:spPr>
      </p:sp>
      <p:sp>
        <p:nvSpPr>
          <p:cNvPr id="6" name="Shape 3"/>
          <p:cNvSpPr/>
          <p:nvPr/>
        </p:nvSpPr>
        <p:spPr>
          <a:xfrm>
            <a:off x="886658" y="4883944"/>
            <a:ext cx="6316504" cy="629364"/>
          </a:xfrm>
          <a:prstGeom prst="roundRect">
            <a:avLst>
              <a:gd name="adj" fmla="val 642"/>
            </a:avLst>
          </a:prstGeom>
          <a:solidFill>
            <a:srgbClr val="303132"/>
          </a:solidFill>
          <a:ln/>
        </p:spPr>
      </p:sp>
      <p:pic>
        <p:nvPicPr>
          <p:cNvPr id="7"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87510" y="5041225"/>
            <a:ext cx="314682" cy="314682"/>
          </a:xfrm>
          <a:prstGeom prst="rect">
            <a:avLst/>
          </a:prstGeom>
        </p:spPr>
      </p:pic>
      <p:sp>
        <p:nvSpPr>
          <p:cNvPr id="8" name="Text 4"/>
          <p:cNvSpPr/>
          <p:nvPr/>
        </p:nvSpPr>
        <p:spPr>
          <a:xfrm>
            <a:off x="1096447" y="5691545"/>
            <a:ext cx="2384108" cy="297894"/>
          </a:xfrm>
          <a:prstGeom prst="rect">
            <a:avLst/>
          </a:prstGeom>
          <a:noFill/>
          <a:ln/>
        </p:spPr>
        <p:txBody>
          <a:bodyPr wrap="none" lIns="0" tIns="0" rIns="0" bIns="0" rtlCol="0" anchor="t"/>
          <a:lstStyle/>
          <a:p>
            <a:pPr marL="0" indent="0" algn="l">
              <a:lnSpc>
                <a:spcPts val="2300"/>
              </a:lnSpc>
              <a:buNone/>
            </a:pPr>
            <a:r>
              <a:rPr lang="en-US" sz="1850" b="1" dirty="0">
                <a:solidFill>
                  <a:srgbClr val="E2E6E9"/>
                </a:solidFill>
                <a:latin typeface="Montserrat Bold" pitchFamily="34" charset="0"/>
                <a:ea typeface="Montserrat Bold" pitchFamily="34" charset="-122"/>
                <a:cs typeface="Montserrat Bold" pitchFamily="34" charset="-120"/>
              </a:rPr>
              <a:t>ROC-AUC: 94%</a:t>
            </a:r>
            <a:endParaRPr lang="en-US" sz="1850" dirty="0"/>
          </a:p>
        </p:txBody>
      </p:sp>
      <p:sp>
        <p:nvSpPr>
          <p:cNvPr id="9" name="Text 5"/>
          <p:cNvSpPr/>
          <p:nvPr/>
        </p:nvSpPr>
        <p:spPr>
          <a:xfrm>
            <a:off x="1096447" y="6096357"/>
            <a:ext cx="5896928" cy="581978"/>
          </a:xfrm>
          <a:prstGeom prst="rect">
            <a:avLst/>
          </a:prstGeom>
          <a:noFill/>
          <a:ln/>
        </p:spPr>
        <p:txBody>
          <a:bodyPr wrap="square" lIns="0" tIns="0" rIns="0" bIns="0" rtlCol="0" anchor="t"/>
          <a:lstStyle/>
          <a:p>
            <a:pPr marL="0" indent="0" algn="l">
              <a:lnSpc>
                <a:spcPts val="2250"/>
              </a:lnSpc>
              <a:buNone/>
            </a:pPr>
            <a:r>
              <a:rPr lang="en-US" sz="1650" dirty="0">
                <a:solidFill>
                  <a:srgbClr val="E2E6E9"/>
                </a:solidFill>
                <a:latin typeface="Source Sans 3" pitchFamily="34" charset="0"/>
                <a:ea typeface="Source Sans 3" pitchFamily="34" charset="-122"/>
                <a:cs typeface="Source Sans 3" pitchFamily="34" charset="-120"/>
              </a:rPr>
              <a:t>→ It clearly separates fraudulent and legitimate transactions, helping reduce both false alarms and missed fraud cases</a:t>
            </a:r>
            <a:endParaRPr lang="en-US" sz="1650" dirty="0"/>
          </a:p>
        </p:txBody>
      </p:sp>
      <p:sp>
        <p:nvSpPr>
          <p:cNvPr id="10" name="Shape 6"/>
          <p:cNvSpPr/>
          <p:nvPr/>
        </p:nvSpPr>
        <p:spPr>
          <a:xfrm>
            <a:off x="7404259" y="4861084"/>
            <a:ext cx="6362343" cy="2049899"/>
          </a:xfrm>
          <a:prstGeom prst="roundRect">
            <a:avLst>
              <a:gd name="adj" fmla="val 1535"/>
            </a:avLst>
          </a:prstGeom>
          <a:solidFill>
            <a:srgbClr val="111213"/>
          </a:solidFill>
          <a:ln w="22860">
            <a:solidFill>
              <a:srgbClr val="494A4B"/>
            </a:solidFill>
            <a:prstDash val="solid"/>
          </a:ln>
        </p:spPr>
      </p:sp>
      <p:sp>
        <p:nvSpPr>
          <p:cNvPr id="11" name="Shape 7"/>
          <p:cNvSpPr/>
          <p:nvPr/>
        </p:nvSpPr>
        <p:spPr>
          <a:xfrm>
            <a:off x="7427119" y="4883944"/>
            <a:ext cx="6316623" cy="629364"/>
          </a:xfrm>
          <a:prstGeom prst="roundRect">
            <a:avLst>
              <a:gd name="adj" fmla="val 642"/>
            </a:avLst>
          </a:prstGeom>
          <a:solidFill>
            <a:srgbClr val="303132"/>
          </a:solidFill>
          <a:ln/>
        </p:spPr>
      </p:sp>
      <p:pic>
        <p:nvPicPr>
          <p:cNvPr id="12" name="Image 2" descr="preencoded.png"/>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10428089" y="5041225"/>
            <a:ext cx="314682" cy="314682"/>
          </a:xfrm>
          <a:prstGeom prst="rect">
            <a:avLst/>
          </a:prstGeom>
        </p:spPr>
      </p:pic>
      <p:sp>
        <p:nvSpPr>
          <p:cNvPr id="13" name="Text 8"/>
          <p:cNvSpPr/>
          <p:nvPr/>
        </p:nvSpPr>
        <p:spPr>
          <a:xfrm>
            <a:off x="7636907" y="5691545"/>
            <a:ext cx="2384108" cy="297894"/>
          </a:xfrm>
          <a:prstGeom prst="rect">
            <a:avLst/>
          </a:prstGeom>
          <a:noFill/>
          <a:ln/>
        </p:spPr>
        <p:txBody>
          <a:bodyPr wrap="none" lIns="0" tIns="0" rIns="0" bIns="0" rtlCol="0" anchor="t"/>
          <a:lstStyle/>
          <a:p>
            <a:pPr marL="0" indent="0" algn="l">
              <a:lnSpc>
                <a:spcPts val="2300"/>
              </a:lnSpc>
              <a:buNone/>
            </a:pPr>
            <a:r>
              <a:rPr lang="en-US" sz="1850" b="1" dirty="0">
                <a:solidFill>
                  <a:srgbClr val="E2E6E9"/>
                </a:solidFill>
                <a:latin typeface="Montserrat Bold" pitchFamily="34" charset="0"/>
                <a:ea typeface="Montserrat Bold" pitchFamily="34" charset="-122"/>
                <a:cs typeface="Montserrat Bold" pitchFamily="34" charset="-120"/>
              </a:rPr>
              <a:t>Recall: 89.17%</a:t>
            </a:r>
            <a:endParaRPr lang="en-US" sz="1850" dirty="0"/>
          </a:p>
        </p:txBody>
      </p:sp>
      <p:sp>
        <p:nvSpPr>
          <p:cNvPr id="14" name="Text 9"/>
          <p:cNvSpPr/>
          <p:nvPr/>
        </p:nvSpPr>
        <p:spPr>
          <a:xfrm>
            <a:off x="7636907" y="6096357"/>
            <a:ext cx="5897047" cy="581978"/>
          </a:xfrm>
          <a:prstGeom prst="rect">
            <a:avLst/>
          </a:prstGeom>
          <a:noFill/>
          <a:ln/>
        </p:spPr>
        <p:txBody>
          <a:bodyPr wrap="square" lIns="0" tIns="0" rIns="0" bIns="0" rtlCol="0" anchor="t"/>
          <a:lstStyle/>
          <a:p>
            <a:pPr marL="0" indent="0" algn="l">
              <a:lnSpc>
                <a:spcPts val="2250"/>
              </a:lnSpc>
              <a:buNone/>
            </a:pPr>
            <a:r>
              <a:rPr lang="en-US" sz="1650" dirty="0">
                <a:solidFill>
                  <a:srgbClr val="E2E6E9"/>
                </a:solidFill>
                <a:latin typeface="Source Sans 3" pitchFamily="34" charset="0"/>
                <a:ea typeface="Source Sans 3" pitchFamily="34" charset="-122"/>
                <a:cs typeface="Source Sans 3" pitchFamily="34" charset="-120"/>
              </a:rPr>
              <a:t>→ It catches almost 9 out of 10 fraud cases, helping prevent losses and keep revenue safe.</a:t>
            </a:r>
            <a:endParaRPr lang="en-US" sz="1650" dirty="0"/>
          </a:p>
        </p:txBody>
      </p:sp>
      <p:sp>
        <p:nvSpPr>
          <p:cNvPr id="15" name="Text 10"/>
          <p:cNvSpPr/>
          <p:nvPr/>
        </p:nvSpPr>
        <p:spPr>
          <a:xfrm>
            <a:off x="863798" y="7111603"/>
            <a:ext cx="12902803" cy="290989"/>
          </a:xfrm>
          <a:prstGeom prst="rect">
            <a:avLst/>
          </a:prstGeom>
          <a:noFill/>
          <a:ln/>
        </p:spPr>
        <p:txBody>
          <a:bodyPr wrap="none" lIns="0" tIns="0" rIns="0" bIns="0" rtlCol="0" anchor="t"/>
          <a:lstStyle/>
          <a:p>
            <a:pPr marL="0" indent="0" algn="l">
              <a:lnSpc>
                <a:spcPts val="2250"/>
              </a:lnSpc>
              <a:buNone/>
            </a:pPr>
            <a:r>
              <a:rPr lang="en-US" sz="1650" b="1" dirty="0">
                <a:solidFill>
                  <a:srgbClr val="E2E6E9"/>
                </a:solidFill>
                <a:latin typeface="Source Sans 3" pitchFamily="34" charset="0"/>
                <a:ea typeface="Source Sans 3" pitchFamily="34" charset="-122"/>
                <a:cs typeface="Source Sans 3" pitchFamily="34" charset="-120"/>
              </a:rPr>
              <a:t>A high ROC AUC and Recall indicate that our model is very effective at detecting fraudulent transactions.</a:t>
            </a:r>
            <a:endParaRPr lang="en-US" sz="1650" dirty="0"/>
          </a:p>
        </p:txBody>
      </p:sp>
      <p:pic>
        <p:nvPicPr>
          <p:cNvPr id="17" name="Picture 16">
            <a:extLst>
              <a:ext uri="{FF2B5EF4-FFF2-40B4-BE49-F238E27FC236}">
                <a16:creationId xmlns:a16="http://schemas.microsoft.com/office/drawing/2014/main" id="{F492392E-D538-41A2-9636-B038881F4097}"/>
              </a:ext>
            </a:extLst>
          </p:cNvPr>
          <p:cNvPicPr>
            <a:picLocks noChangeAspect="1"/>
          </p:cNvPicPr>
          <p:nvPr/>
        </p:nvPicPr>
        <p:blipFill>
          <a:blip r:embed="rId7"/>
          <a:stretch>
            <a:fillRect/>
          </a:stretch>
        </p:blipFill>
        <p:spPr>
          <a:xfrm>
            <a:off x="10813854" y="7257097"/>
            <a:ext cx="3816546" cy="97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63798" y="686395"/>
            <a:ext cx="5793581" cy="701278"/>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Montserrat Bold" pitchFamily="34" charset="0"/>
                <a:ea typeface="Montserrat Bold" pitchFamily="34" charset="-122"/>
                <a:cs typeface="Montserrat Bold" pitchFamily="34" charset="-120"/>
              </a:rPr>
              <a:t>Confusion Matrices:</a:t>
            </a:r>
            <a:endParaRPr lang="en-US" sz="4400" dirty="0"/>
          </a:p>
        </p:txBody>
      </p:sp>
      <p:pic>
        <p:nvPicPr>
          <p:cNvPr id="3" name="Image 0" descr="preencoded.png"/>
          <p:cNvPicPr>
            <a:picLocks noChangeAspect="1"/>
          </p:cNvPicPr>
          <p:nvPr/>
        </p:nvPicPr>
        <p:blipFill>
          <a:blip r:embed="rId3"/>
          <a:stretch>
            <a:fillRect/>
          </a:stretch>
        </p:blipFill>
        <p:spPr>
          <a:xfrm>
            <a:off x="863798" y="2035493"/>
            <a:ext cx="6150293" cy="5229939"/>
          </a:xfrm>
          <a:prstGeom prst="rect">
            <a:avLst/>
          </a:prstGeom>
        </p:spPr>
      </p:pic>
      <p:pic>
        <p:nvPicPr>
          <p:cNvPr id="4" name="Image 1" descr="preencoded.png"/>
          <p:cNvPicPr>
            <a:picLocks noChangeAspect="1"/>
          </p:cNvPicPr>
          <p:nvPr/>
        </p:nvPicPr>
        <p:blipFill>
          <a:blip r:embed="rId4"/>
          <a:stretch>
            <a:fillRect/>
          </a:stretch>
        </p:blipFill>
        <p:spPr>
          <a:xfrm>
            <a:off x="7623929" y="2035493"/>
            <a:ext cx="6150293" cy="5142786"/>
          </a:xfrm>
          <a:prstGeom prst="rect">
            <a:avLst/>
          </a:prstGeom>
        </p:spPr>
      </p:pic>
      <p:pic>
        <p:nvPicPr>
          <p:cNvPr id="6" name="Picture 5">
            <a:extLst>
              <a:ext uri="{FF2B5EF4-FFF2-40B4-BE49-F238E27FC236}">
                <a16:creationId xmlns:a16="http://schemas.microsoft.com/office/drawing/2014/main" id="{E4E11E0B-CD98-4888-936A-A72C2F3B010C}"/>
              </a:ext>
            </a:extLst>
          </p:cNvPr>
          <p:cNvPicPr>
            <a:picLocks noChangeAspect="1"/>
          </p:cNvPicPr>
          <p:nvPr/>
        </p:nvPicPr>
        <p:blipFill>
          <a:blip r:embed="rId5"/>
          <a:stretch>
            <a:fillRect/>
          </a:stretch>
        </p:blipFill>
        <p:spPr>
          <a:xfrm>
            <a:off x="10813854" y="7224546"/>
            <a:ext cx="3816546" cy="97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863798" y="1263729"/>
            <a:ext cx="6979087" cy="525899"/>
          </a:xfrm>
          <a:prstGeom prst="rect">
            <a:avLst/>
          </a:prstGeom>
          <a:noFill/>
          <a:ln/>
        </p:spPr>
        <p:txBody>
          <a:bodyPr wrap="none" lIns="0" tIns="0" rIns="0" bIns="0" rtlCol="0" anchor="t"/>
          <a:lstStyle/>
          <a:p>
            <a:pPr marL="0" indent="0" algn="l">
              <a:lnSpc>
                <a:spcPts val="4100"/>
              </a:lnSpc>
              <a:buNone/>
            </a:pPr>
            <a:r>
              <a:rPr lang="en-US" sz="3300" b="1" dirty="0">
                <a:solidFill>
                  <a:srgbClr val="FFFFFF"/>
                </a:solidFill>
                <a:latin typeface="Montserrat Bold" pitchFamily="34" charset="0"/>
                <a:ea typeface="Montserrat Bold" pitchFamily="34" charset="-122"/>
                <a:cs typeface="Montserrat Bold" pitchFamily="34" charset="-120"/>
              </a:rPr>
              <a:t>Future Improvements </a:t>
            </a:r>
            <a:r>
              <a:rPr lang="en-US" sz="3300" b="1">
                <a:solidFill>
                  <a:srgbClr val="FFFFFF"/>
                </a:solidFill>
                <a:latin typeface="Montserrat Bold" pitchFamily="34" charset="0"/>
                <a:ea typeface="Montserrat Bold" pitchFamily="34" charset="-122"/>
                <a:cs typeface="Montserrat Bold" pitchFamily="34" charset="-120"/>
              </a:rPr>
              <a:t>&amp; Scaling:</a:t>
            </a:r>
            <a:endParaRPr lang="en-US" sz="3300" dirty="0"/>
          </a:p>
        </p:txBody>
      </p:sp>
      <p:sp>
        <p:nvSpPr>
          <p:cNvPr id="3" name="Text 1"/>
          <p:cNvSpPr/>
          <p:nvPr/>
        </p:nvSpPr>
        <p:spPr>
          <a:xfrm>
            <a:off x="863798" y="2067282"/>
            <a:ext cx="12902803" cy="242888"/>
          </a:xfrm>
          <a:prstGeom prst="rect">
            <a:avLst/>
          </a:prstGeom>
          <a:noFill/>
          <a:ln/>
        </p:spPr>
        <p:txBody>
          <a:bodyPr wrap="none" lIns="0" tIns="0" rIns="0" bIns="0" rtlCol="0" anchor="t"/>
          <a:lstStyle/>
          <a:p>
            <a:pPr marL="0" indent="0" algn="l">
              <a:lnSpc>
                <a:spcPts val="1900"/>
              </a:lnSpc>
              <a:buNone/>
            </a:pPr>
            <a:endParaRPr lang="en-US" sz="1450" dirty="0"/>
          </a:p>
        </p:txBody>
      </p:sp>
      <p:sp>
        <p:nvSpPr>
          <p:cNvPr id="4" name="Shape 2"/>
          <p:cNvSpPr/>
          <p:nvPr/>
        </p:nvSpPr>
        <p:spPr>
          <a:xfrm>
            <a:off x="863798" y="2622352"/>
            <a:ext cx="6225659" cy="1303258"/>
          </a:xfrm>
          <a:prstGeom prst="roundRect">
            <a:avLst>
              <a:gd name="adj" fmla="val 2131"/>
            </a:avLst>
          </a:prstGeom>
          <a:solidFill>
            <a:srgbClr val="111213"/>
          </a:solidFill>
          <a:ln w="22860">
            <a:solidFill>
              <a:srgbClr val="494A4B"/>
            </a:solidFill>
            <a:prstDash val="solid"/>
          </a:ln>
        </p:spPr>
      </p:sp>
      <p:sp>
        <p:nvSpPr>
          <p:cNvPr id="5" name="Text 3"/>
          <p:cNvSpPr/>
          <p:nvPr/>
        </p:nvSpPr>
        <p:spPr>
          <a:xfrm>
            <a:off x="1071682" y="2830235"/>
            <a:ext cx="2371249" cy="262890"/>
          </a:xfrm>
          <a:prstGeom prst="rect">
            <a:avLst/>
          </a:prstGeom>
          <a:noFill/>
          <a:ln/>
        </p:spPr>
        <p:txBody>
          <a:bodyPr wrap="none" lIns="0" tIns="0" rIns="0" bIns="0" rtlCol="0" anchor="t"/>
          <a:lstStyle/>
          <a:p>
            <a:pPr marL="0" indent="0" algn="l">
              <a:lnSpc>
                <a:spcPts val="2050"/>
              </a:lnSpc>
              <a:buNone/>
            </a:pPr>
            <a:r>
              <a:rPr lang="en-US" sz="1650" b="1" dirty="0">
                <a:solidFill>
                  <a:srgbClr val="E2E6E9"/>
                </a:solidFill>
                <a:latin typeface="Montserrat Bold" pitchFamily="34" charset="0"/>
                <a:ea typeface="Montserrat Bold" pitchFamily="34" charset="-122"/>
                <a:cs typeface="Montserrat Bold" pitchFamily="34" charset="-120"/>
              </a:rPr>
              <a:t>Real-Time Processing</a:t>
            </a:r>
            <a:endParaRPr lang="en-US" sz="1650" dirty="0"/>
          </a:p>
        </p:txBody>
      </p:sp>
      <p:sp>
        <p:nvSpPr>
          <p:cNvPr id="6" name="Text 4"/>
          <p:cNvSpPr/>
          <p:nvPr/>
        </p:nvSpPr>
        <p:spPr>
          <a:xfrm>
            <a:off x="1071682" y="3231952"/>
            <a:ext cx="5809893" cy="485775"/>
          </a:xfrm>
          <a:prstGeom prst="rect">
            <a:avLst/>
          </a:prstGeom>
          <a:noFill/>
          <a:ln/>
        </p:spPr>
        <p:txBody>
          <a:bodyPr wrap="square" lIns="0" tIns="0" rIns="0" bIns="0" rtlCol="0" anchor="t"/>
          <a:lstStyle/>
          <a:p>
            <a:pPr marL="0" indent="0" algn="l">
              <a:lnSpc>
                <a:spcPts val="1900"/>
              </a:lnSpc>
              <a:buNone/>
            </a:pPr>
            <a:r>
              <a:rPr lang="en-US" sz="1450" dirty="0">
                <a:solidFill>
                  <a:srgbClr val="E2E6E9"/>
                </a:solidFill>
                <a:latin typeface="Source Sans 3" pitchFamily="34" charset="0"/>
                <a:ea typeface="Source Sans 3" pitchFamily="34" charset="-122"/>
                <a:cs typeface="Source Sans 3" pitchFamily="34" charset="-120"/>
              </a:rPr>
              <a:t>Move from batch to streaming scoring to deliver sub-second risk decisions, enabling earlier interdiction and smoother customer experience.</a:t>
            </a:r>
            <a:endParaRPr lang="en-US" sz="1450" dirty="0"/>
          </a:p>
        </p:txBody>
      </p:sp>
      <p:sp>
        <p:nvSpPr>
          <p:cNvPr id="7" name="Shape 5"/>
          <p:cNvSpPr/>
          <p:nvPr/>
        </p:nvSpPr>
        <p:spPr>
          <a:xfrm>
            <a:off x="863798" y="4064437"/>
            <a:ext cx="6225659" cy="1303258"/>
          </a:xfrm>
          <a:prstGeom prst="roundRect">
            <a:avLst>
              <a:gd name="adj" fmla="val 2131"/>
            </a:avLst>
          </a:prstGeom>
          <a:solidFill>
            <a:srgbClr val="111213"/>
          </a:solidFill>
          <a:ln w="22860">
            <a:solidFill>
              <a:srgbClr val="494A4B"/>
            </a:solidFill>
            <a:prstDash val="solid"/>
          </a:ln>
        </p:spPr>
      </p:sp>
      <p:sp>
        <p:nvSpPr>
          <p:cNvPr id="8" name="Text 6"/>
          <p:cNvSpPr/>
          <p:nvPr/>
        </p:nvSpPr>
        <p:spPr>
          <a:xfrm>
            <a:off x="1071682" y="4272320"/>
            <a:ext cx="2103596" cy="262890"/>
          </a:xfrm>
          <a:prstGeom prst="rect">
            <a:avLst/>
          </a:prstGeom>
          <a:noFill/>
          <a:ln/>
        </p:spPr>
        <p:txBody>
          <a:bodyPr wrap="none" lIns="0" tIns="0" rIns="0" bIns="0" rtlCol="0" anchor="t"/>
          <a:lstStyle/>
          <a:p>
            <a:pPr marL="0" indent="0" algn="l">
              <a:lnSpc>
                <a:spcPts val="2050"/>
              </a:lnSpc>
              <a:buNone/>
            </a:pPr>
            <a:r>
              <a:rPr lang="en-US" sz="1650" b="1" dirty="0">
                <a:solidFill>
                  <a:srgbClr val="E2E6E9"/>
                </a:solidFill>
                <a:latin typeface="Montserrat Bold" pitchFamily="34" charset="0"/>
                <a:ea typeface="Montserrat Bold" pitchFamily="34" charset="-122"/>
                <a:cs typeface="Montserrat Bold" pitchFamily="34" charset="-120"/>
              </a:rPr>
              <a:t>Adaptive Models</a:t>
            </a:r>
            <a:endParaRPr lang="en-US" sz="1650" dirty="0"/>
          </a:p>
        </p:txBody>
      </p:sp>
      <p:sp>
        <p:nvSpPr>
          <p:cNvPr id="9" name="Text 7"/>
          <p:cNvSpPr/>
          <p:nvPr/>
        </p:nvSpPr>
        <p:spPr>
          <a:xfrm>
            <a:off x="1071682" y="4674037"/>
            <a:ext cx="5809893" cy="485775"/>
          </a:xfrm>
          <a:prstGeom prst="rect">
            <a:avLst/>
          </a:prstGeom>
          <a:noFill/>
          <a:ln/>
        </p:spPr>
        <p:txBody>
          <a:bodyPr wrap="square" lIns="0" tIns="0" rIns="0" bIns="0" rtlCol="0" anchor="t"/>
          <a:lstStyle/>
          <a:p>
            <a:pPr marL="0" indent="0" algn="l">
              <a:lnSpc>
                <a:spcPts val="1900"/>
              </a:lnSpc>
              <a:buNone/>
            </a:pPr>
            <a:r>
              <a:rPr lang="en-US" sz="1450" dirty="0">
                <a:solidFill>
                  <a:srgbClr val="E2E6E9"/>
                </a:solidFill>
                <a:latin typeface="Source Sans 3" pitchFamily="34" charset="0"/>
                <a:ea typeface="Source Sans 3" pitchFamily="34" charset="-122"/>
                <a:cs typeface="Source Sans 3" pitchFamily="34" charset="-120"/>
              </a:rPr>
              <a:t>Automate retraining with drift detection and safe rollouts so models stay current as fraud tactics evolve.</a:t>
            </a:r>
            <a:endParaRPr lang="en-US" sz="1450" dirty="0"/>
          </a:p>
        </p:txBody>
      </p:sp>
      <p:sp>
        <p:nvSpPr>
          <p:cNvPr id="10" name="Shape 8"/>
          <p:cNvSpPr/>
          <p:nvPr/>
        </p:nvSpPr>
        <p:spPr>
          <a:xfrm>
            <a:off x="863798" y="5506522"/>
            <a:ext cx="6225659" cy="1303258"/>
          </a:xfrm>
          <a:prstGeom prst="roundRect">
            <a:avLst>
              <a:gd name="adj" fmla="val 2131"/>
            </a:avLst>
          </a:prstGeom>
          <a:solidFill>
            <a:srgbClr val="111213"/>
          </a:solidFill>
          <a:ln w="22860">
            <a:solidFill>
              <a:srgbClr val="494A4B"/>
            </a:solidFill>
            <a:prstDash val="solid"/>
          </a:ln>
        </p:spPr>
      </p:sp>
      <p:sp>
        <p:nvSpPr>
          <p:cNvPr id="11" name="Text 9"/>
          <p:cNvSpPr/>
          <p:nvPr/>
        </p:nvSpPr>
        <p:spPr>
          <a:xfrm>
            <a:off x="1071682" y="5714405"/>
            <a:ext cx="2103596" cy="262890"/>
          </a:xfrm>
          <a:prstGeom prst="rect">
            <a:avLst/>
          </a:prstGeom>
          <a:noFill/>
          <a:ln/>
        </p:spPr>
        <p:txBody>
          <a:bodyPr wrap="none" lIns="0" tIns="0" rIns="0" bIns="0" rtlCol="0" anchor="t"/>
          <a:lstStyle/>
          <a:p>
            <a:pPr marL="0" indent="0" algn="l">
              <a:lnSpc>
                <a:spcPts val="2050"/>
              </a:lnSpc>
              <a:buNone/>
            </a:pPr>
            <a:r>
              <a:rPr lang="en-US" sz="1650" b="1" dirty="0">
                <a:solidFill>
                  <a:srgbClr val="E2E6E9"/>
                </a:solidFill>
                <a:latin typeface="Montserrat Bold" pitchFamily="34" charset="0"/>
                <a:ea typeface="Montserrat Bold" pitchFamily="34" charset="-122"/>
                <a:cs typeface="Montserrat Bold" pitchFamily="34" charset="-120"/>
              </a:rPr>
              <a:t>Explainability</a:t>
            </a:r>
            <a:endParaRPr lang="en-US" sz="1650" dirty="0"/>
          </a:p>
        </p:txBody>
      </p:sp>
      <p:sp>
        <p:nvSpPr>
          <p:cNvPr id="12" name="Text 10"/>
          <p:cNvSpPr/>
          <p:nvPr/>
        </p:nvSpPr>
        <p:spPr>
          <a:xfrm>
            <a:off x="1071682" y="6116122"/>
            <a:ext cx="5809893" cy="485775"/>
          </a:xfrm>
          <a:prstGeom prst="rect">
            <a:avLst/>
          </a:prstGeom>
          <a:noFill/>
          <a:ln/>
        </p:spPr>
        <p:txBody>
          <a:bodyPr wrap="square" lIns="0" tIns="0" rIns="0" bIns="0" rtlCol="0" anchor="t"/>
          <a:lstStyle/>
          <a:p>
            <a:pPr marL="0" indent="0" algn="l">
              <a:lnSpc>
                <a:spcPts val="1900"/>
              </a:lnSpc>
              <a:buNone/>
            </a:pPr>
            <a:r>
              <a:rPr lang="en-US" sz="1450" dirty="0">
                <a:solidFill>
                  <a:srgbClr val="E2E6E9"/>
                </a:solidFill>
                <a:latin typeface="Source Sans 3" pitchFamily="34" charset="0"/>
                <a:ea typeface="Source Sans 3" pitchFamily="34" charset="-122"/>
                <a:cs typeface="Source Sans 3" pitchFamily="34" charset="-120"/>
              </a:rPr>
              <a:t>Provide clear, model-backed explanations and investigator-facing dashboards to speed decisions and satisfy compliance.</a:t>
            </a:r>
            <a:endParaRPr lang="en-US" sz="1450" dirty="0"/>
          </a:p>
        </p:txBody>
      </p:sp>
      <p:sp>
        <p:nvSpPr>
          <p:cNvPr id="13" name="Shape 11"/>
          <p:cNvSpPr/>
          <p:nvPr/>
        </p:nvSpPr>
        <p:spPr>
          <a:xfrm>
            <a:off x="7548563" y="2622352"/>
            <a:ext cx="6225659" cy="1303258"/>
          </a:xfrm>
          <a:prstGeom prst="roundRect">
            <a:avLst>
              <a:gd name="adj" fmla="val 2131"/>
            </a:avLst>
          </a:prstGeom>
          <a:solidFill>
            <a:srgbClr val="111213"/>
          </a:solidFill>
          <a:ln w="22860">
            <a:solidFill>
              <a:srgbClr val="494A4B"/>
            </a:solidFill>
            <a:prstDash val="solid"/>
          </a:ln>
        </p:spPr>
      </p:sp>
      <p:sp>
        <p:nvSpPr>
          <p:cNvPr id="14" name="Text 12"/>
          <p:cNvSpPr/>
          <p:nvPr/>
        </p:nvSpPr>
        <p:spPr>
          <a:xfrm>
            <a:off x="7756446" y="2830235"/>
            <a:ext cx="2912269" cy="262890"/>
          </a:xfrm>
          <a:prstGeom prst="rect">
            <a:avLst/>
          </a:prstGeom>
          <a:noFill/>
          <a:ln/>
        </p:spPr>
        <p:txBody>
          <a:bodyPr wrap="none" lIns="0" tIns="0" rIns="0" bIns="0" rtlCol="0" anchor="t"/>
          <a:lstStyle/>
          <a:p>
            <a:pPr marL="0" indent="0" algn="l">
              <a:lnSpc>
                <a:spcPts val="2050"/>
              </a:lnSpc>
              <a:buNone/>
            </a:pPr>
            <a:r>
              <a:rPr lang="en-US" sz="1650" b="1" dirty="0">
                <a:solidFill>
                  <a:srgbClr val="E2E6E9"/>
                </a:solidFill>
                <a:latin typeface="Montserrat Bold" pitchFamily="34" charset="0"/>
                <a:ea typeface="Montserrat Bold" pitchFamily="34" charset="-122"/>
                <a:cs typeface="Montserrat Bold" pitchFamily="34" charset="-120"/>
              </a:rPr>
              <a:t>Deep Learning Integration</a:t>
            </a:r>
            <a:endParaRPr lang="en-US" sz="1650" dirty="0"/>
          </a:p>
        </p:txBody>
      </p:sp>
      <p:sp>
        <p:nvSpPr>
          <p:cNvPr id="15" name="Text 13"/>
          <p:cNvSpPr/>
          <p:nvPr/>
        </p:nvSpPr>
        <p:spPr>
          <a:xfrm>
            <a:off x="7756446" y="3231952"/>
            <a:ext cx="5809893" cy="485775"/>
          </a:xfrm>
          <a:prstGeom prst="rect">
            <a:avLst/>
          </a:prstGeom>
          <a:noFill/>
          <a:ln/>
        </p:spPr>
        <p:txBody>
          <a:bodyPr wrap="square" lIns="0" tIns="0" rIns="0" bIns="0" rtlCol="0" anchor="t"/>
          <a:lstStyle/>
          <a:p>
            <a:pPr marL="0" indent="0" algn="l">
              <a:lnSpc>
                <a:spcPts val="1900"/>
              </a:lnSpc>
              <a:buNone/>
            </a:pPr>
            <a:r>
              <a:rPr lang="en-US" sz="1450" dirty="0">
                <a:solidFill>
                  <a:srgbClr val="E2E6E9"/>
                </a:solidFill>
                <a:latin typeface="Source Sans 3" pitchFamily="34" charset="0"/>
                <a:ea typeface="Source Sans 3" pitchFamily="34" charset="-122"/>
                <a:cs typeface="Source Sans 3" pitchFamily="34" charset="-120"/>
              </a:rPr>
              <a:t>Add neural models (sequence and graph-aware) alongside current models in an ensemble to catch complex fraud patterns while controlling latency.</a:t>
            </a:r>
            <a:endParaRPr lang="en-US" sz="1450" dirty="0"/>
          </a:p>
        </p:txBody>
      </p:sp>
      <p:sp>
        <p:nvSpPr>
          <p:cNvPr id="16" name="Shape 14"/>
          <p:cNvSpPr/>
          <p:nvPr/>
        </p:nvSpPr>
        <p:spPr>
          <a:xfrm>
            <a:off x="7548563" y="4064437"/>
            <a:ext cx="6225659" cy="1303258"/>
          </a:xfrm>
          <a:prstGeom prst="roundRect">
            <a:avLst>
              <a:gd name="adj" fmla="val 2131"/>
            </a:avLst>
          </a:prstGeom>
          <a:solidFill>
            <a:srgbClr val="111213"/>
          </a:solidFill>
          <a:ln w="22860">
            <a:solidFill>
              <a:srgbClr val="494A4B"/>
            </a:solidFill>
            <a:prstDash val="solid"/>
          </a:ln>
        </p:spPr>
      </p:sp>
      <p:sp>
        <p:nvSpPr>
          <p:cNvPr id="17" name="Text 15"/>
          <p:cNvSpPr/>
          <p:nvPr/>
        </p:nvSpPr>
        <p:spPr>
          <a:xfrm>
            <a:off x="7756446" y="4272320"/>
            <a:ext cx="2710220" cy="262890"/>
          </a:xfrm>
          <a:prstGeom prst="rect">
            <a:avLst/>
          </a:prstGeom>
          <a:noFill/>
          <a:ln/>
        </p:spPr>
        <p:txBody>
          <a:bodyPr wrap="none" lIns="0" tIns="0" rIns="0" bIns="0" rtlCol="0" anchor="t"/>
          <a:lstStyle/>
          <a:p>
            <a:pPr marL="0" indent="0" algn="l">
              <a:lnSpc>
                <a:spcPts val="2050"/>
              </a:lnSpc>
              <a:buNone/>
            </a:pPr>
            <a:r>
              <a:rPr lang="en-US" sz="1650" b="1" dirty="0">
                <a:solidFill>
                  <a:srgbClr val="E2E6E9"/>
                </a:solidFill>
                <a:latin typeface="Montserrat Bold" pitchFamily="34" charset="0"/>
                <a:ea typeface="Montserrat Bold" pitchFamily="34" charset="-122"/>
                <a:cs typeface="Montserrat Bold" pitchFamily="34" charset="-120"/>
              </a:rPr>
              <a:t>Multi-Channel Detection</a:t>
            </a:r>
            <a:endParaRPr lang="en-US" sz="1650" dirty="0"/>
          </a:p>
        </p:txBody>
      </p:sp>
      <p:sp>
        <p:nvSpPr>
          <p:cNvPr id="18" name="Text 16"/>
          <p:cNvSpPr/>
          <p:nvPr/>
        </p:nvSpPr>
        <p:spPr>
          <a:xfrm>
            <a:off x="7756446" y="4674037"/>
            <a:ext cx="5809893" cy="485775"/>
          </a:xfrm>
          <a:prstGeom prst="rect">
            <a:avLst/>
          </a:prstGeom>
          <a:noFill/>
          <a:ln/>
        </p:spPr>
        <p:txBody>
          <a:bodyPr wrap="square" lIns="0" tIns="0" rIns="0" bIns="0" rtlCol="0" anchor="t"/>
          <a:lstStyle/>
          <a:p>
            <a:pPr marL="0" indent="0" algn="l">
              <a:lnSpc>
                <a:spcPts val="1900"/>
              </a:lnSpc>
              <a:buNone/>
            </a:pPr>
            <a:r>
              <a:rPr lang="en-US" sz="1450" dirty="0">
                <a:solidFill>
                  <a:srgbClr val="E2E6E9"/>
                </a:solidFill>
                <a:latin typeface="Source Sans 3" pitchFamily="34" charset="0"/>
                <a:ea typeface="Source Sans 3" pitchFamily="34" charset="-122"/>
                <a:cs typeface="Source Sans 3" pitchFamily="34" charset="-120"/>
              </a:rPr>
              <a:t>Unify event schemas and centralize features to extend coverage across ACH, transfers, wallets, BNPL, and in-app payments.</a:t>
            </a:r>
            <a:endParaRPr lang="en-US" sz="1450" dirty="0"/>
          </a:p>
        </p:txBody>
      </p:sp>
      <p:sp>
        <p:nvSpPr>
          <p:cNvPr id="19" name="Shape 17"/>
          <p:cNvSpPr/>
          <p:nvPr/>
        </p:nvSpPr>
        <p:spPr>
          <a:xfrm>
            <a:off x="7548563" y="5506522"/>
            <a:ext cx="6225659" cy="1303258"/>
          </a:xfrm>
          <a:prstGeom prst="roundRect">
            <a:avLst>
              <a:gd name="adj" fmla="val 2131"/>
            </a:avLst>
          </a:prstGeom>
          <a:solidFill>
            <a:srgbClr val="111213"/>
          </a:solidFill>
          <a:ln w="22860">
            <a:solidFill>
              <a:srgbClr val="494A4B"/>
            </a:solidFill>
            <a:prstDash val="solid"/>
          </a:ln>
        </p:spPr>
      </p:sp>
      <p:sp>
        <p:nvSpPr>
          <p:cNvPr id="20" name="Text 18"/>
          <p:cNvSpPr/>
          <p:nvPr/>
        </p:nvSpPr>
        <p:spPr>
          <a:xfrm>
            <a:off x="7756446" y="5714405"/>
            <a:ext cx="2396847" cy="262890"/>
          </a:xfrm>
          <a:prstGeom prst="rect">
            <a:avLst/>
          </a:prstGeom>
          <a:noFill/>
          <a:ln/>
        </p:spPr>
        <p:txBody>
          <a:bodyPr wrap="none" lIns="0" tIns="0" rIns="0" bIns="0" rtlCol="0" anchor="t"/>
          <a:lstStyle/>
          <a:p>
            <a:pPr marL="0" indent="0" algn="l">
              <a:lnSpc>
                <a:spcPts val="2050"/>
              </a:lnSpc>
              <a:buNone/>
            </a:pPr>
            <a:r>
              <a:rPr lang="en-US" sz="1650" b="1" dirty="0">
                <a:solidFill>
                  <a:srgbClr val="E2E6E9"/>
                </a:solidFill>
                <a:latin typeface="Montserrat Bold" pitchFamily="34" charset="0"/>
                <a:ea typeface="Montserrat Bold" pitchFamily="34" charset="-122"/>
                <a:cs typeface="Montserrat Bold" pitchFamily="34" charset="-120"/>
              </a:rPr>
              <a:t>Infrastructure Scaling</a:t>
            </a:r>
            <a:endParaRPr lang="en-US" sz="1650" dirty="0"/>
          </a:p>
        </p:txBody>
      </p:sp>
      <p:sp>
        <p:nvSpPr>
          <p:cNvPr id="21" name="Text 19"/>
          <p:cNvSpPr/>
          <p:nvPr/>
        </p:nvSpPr>
        <p:spPr>
          <a:xfrm>
            <a:off x="7756446" y="6116122"/>
            <a:ext cx="5809893" cy="485775"/>
          </a:xfrm>
          <a:prstGeom prst="rect">
            <a:avLst/>
          </a:prstGeom>
          <a:noFill/>
          <a:ln/>
        </p:spPr>
        <p:txBody>
          <a:bodyPr wrap="square" lIns="0" tIns="0" rIns="0" bIns="0" rtlCol="0" anchor="t"/>
          <a:lstStyle/>
          <a:p>
            <a:pPr marL="0" indent="0" algn="l">
              <a:lnSpc>
                <a:spcPts val="1900"/>
              </a:lnSpc>
              <a:buNone/>
            </a:pPr>
            <a:r>
              <a:rPr lang="en-US" sz="1450" dirty="0">
                <a:solidFill>
                  <a:srgbClr val="E2E6E9"/>
                </a:solidFill>
                <a:latin typeface="Source Sans 3" pitchFamily="34" charset="0"/>
                <a:ea typeface="Source Sans 3" pitchFamily="34" charset="-122"/>
                <a:cs typeface="Source Sans 3" pitchFamily="34" charset="-120"/>
              </a:rPr>
              <a:t>Design horizontally scalable scoring services, autoscaling inference fleets, and multi-region failover to meet throughput and availability targets.</a:t>
            </a:r>
            <a:endParaRPr lang="en-US" sz="1450" dirty="0"/>
          </a:p>
        </p:txBody>
      </p:sp>
      <p:pic>
        <p:nvPicPr>
          <p:cNvPr id="23" name="Picture 22">
            <a:extLst>
              <a:ext uri="{FF2B5EF4-FFF2-40B4-BE49-F238E27FC236}">
                <a16:creationId xmlns:a16="http://schemas.microsoft.com/office/drawing/2014/main" id="{168FAE85-081E-45C3-A1E2-4413D3912DDC}"/>
              </a:ext>
            </a:extLst>
          </p:cNvPr>
          <p:cNvPicPr>
            <a:picLocks noChangeAspect="1"/>
          </p:cNvPicPr>
          <p:nvPr/>
        </p:nvPicPr>
        <p:blipFill>
          <a:blip r:embed="rId3"/>
          <a:stretch>
            <a:fillRect/>
          </a:stretch>
        </p:blipFill>
        <p:spPr>
          <a:xfrm>
            <a:off x="10813854" y="7258000"/>
            <a:ext cx="3816546" cy="9716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3798" y="2514838"/>
            <a:ext cx="5609749" cy="701278"/>
          </a:xfrm>
          <a:prstGeom prst="rect">
            <a:avLst/>
          </a:prstGeom>
          <a:noFill/>
          <a:ln/>
        </p:spPr>
        <p:txBody>
          <a:bodyPr wrap="none" lIns="0" tIns="0" rIns="0" bIns="0" rtlCol="0" anchor="t"/>
          <a:lstStyle/>
          <a:p>
            <a:pPr marL="0" indent="0" algn="l">
              <a:lnSpc>
                <a:spcPts val="5500"/>
              </a:lnSpc>
              <a:buNone/>
            </a:pPr>
            <a:r>
              <a:rPr lang="en-US" sz="4400" b="1" dirty="0">
                <a:solidFill>
                  <a:srgbClr val="FFFFFF"/>
                </a:solidFill>
                <a:latin typeface="Montserrat Bold" pitchFamily="34" charset="0"/>
                <a:ea typeface="Montserrat Bold" pitchFamily="34" charset="-122"/>
                <a:cs typeface="Montserrat Bold" pitchFamily="34" charset="-120"/>
              </a:rPr>
              <a:t>Thank You!</a:t>
            </a:r>
            <a:endParaRPr lang="en-US" sz="4400" dirty="0"/>
          </a:p>
        </p:txBody>
      </p:sp>
      <p:sp>
        <p:nvSpPr>
          <p:cNvPr id="4" name="Text 1"/>
          <p:cNvSpPr/>
          <p:nvPr/>
        </p:nvSpPr>
        <p:spPr>
          <a:xfrm>
            <a:off x="863798" y="3586282"/>
            <a:ext cx="7416403" cy="1480661"/>
          </a:xfrm>
          <a:prstGeom prst="rect">
            <a:avLst/>
          </a:prstGeom>
          <a:noFill/>
          <a:ln/>
        </p:spPr>
        <p:txBody>
          <a:bodyPr wrap="square" lIns="0" tIns="0" rIns="0" bIns="0" rtlCol="0" anchor="t"/>
          <a:lstStyle/>
          <a:p>
            <a:pPr marL="0" indent="0" algn="l">
              <a:lnSpc>
                <a:spcPts val="2900"/>
              </a:lnSpc>
              <a:buNone/>
            </a:pPr>
            <a:r>
              <a:rPr lang="en-US" sz="1900" dirty="0">
                <a:solidFill>
                  <a:srgbClr val="E2E6E9"/>
                </a:solidFill>
                <a:latin typeface="Source Sans 3" pitchFamily="34" charset="0"/>
                <a:ea typeface="Source Sans 3" pitchFamily="34" charset="-122"/>
                <a:cs typeface="Source Sans 3" pitchFamily="34" charset="-120"/>
              </a:rPr>
              <a:t>Thank you so much for your time and attention today! I hope this presentation helped you see just how important advanced fraud detection is and gave you a clear idea of how we can protect financial transactions using Machine Learning.</a:t>
            </a:r>
            <a:endParaRPr lang="en-US" sz="1900" dirty="0"/>
          </a:p>
        </p:txBody>
      </p:sp>
      <p:sp>
        <p:nvSpPr>
          <p:cNvPr id="5" name="Text 2"/>
          <p:cNvSpPr/>
          <p:nvPr/>
        </p:nvSpPr>
        <p:spPr>
          <a:xfrm>
            <a:off x="863798" y="5344597"/>
            <a:ext cx="7416403" cy="370165"/>
          </a:xfrm>
          <a:prstGeom prst="rect">
            <a:avLst/>
          </a:prstGeom>
          <a:noFill/>
          <a:ln/>
        </p:spPr>
        <p:txBody>
          <a:bodyPr wrap="none" lIns="0" tIns="0" rIns="0" bIns="0" rtlCol="0" anchor="t"/>
          <a:lstStyle/>
          <a:p>
            <a:pPr marL="0" indent="0" algn="l">
              <a:lnSpc>
                <a:spcPts val="2900"/>
              </a:lnSpc>
              <a:buNone/>
            </a:pPr>
            <a:r>
              <a:rPr lang="en-US" sz="1900" dirty="0">
                <a:solidFill>
                  <a:srgbClr val="E2E6E9"/>
                </a:solidFill>
                <a:latin typeface="Source Sans 3" pitchFamily="34" charset="0"/>
                <a:ea typeface="Source Sans 3" pitchFamily="34" charset="-122"/>
                <a:cs typeface="Source Sans 3" pitchFamily="34" charset="-120"/>
              </a:rPr>
              <a:t>.</a:t>
            </a:r>
            <a:endParaRPr lang="en-US" sz="1900" dirty="0"/>
          </a:p>
        </p:txBody>
      </p:sp>
      <p:pic>
        <p:nvPicPr>
          <p:cNvPr id="7" name="Picture 6">
            <a:extLst>
              <a:ext uri="{FF2B5EF4-FFF2-40B4-BE49-F238E27FC236}">
                <a16:creationId xmlns:a16="http://schemas.microsoft.com/office/drawing/2014/main" id="{B85EC682-BC13-4896-B72A-E4A9A09C64C9}"/>
              </a:ext>
            </a:extLst>
          </p:cNvPr>
          <p:cNvPicPr>
            <a:picLocks noChangeAspect="1"/>
          </p:cNvPicPr>
          <p:nvPr/>
        </p:nvPicPr>
        <p:blipFill>
          <a:blip r:embed="rId4"/>
          <a:stretch>
            <a:fillRect/>
          </a:stretch>
        </p:blipFill>
        <p:spPr>
          <a:xfrm>
            <a:off x="0" y="6818248"/>
            <a:ext cx="9144000" cy="1411351"/>
          </a:xfrm>
          <a:prstGeom prst="rect">
            <a:avLst/>
          </a:prstGeom>
        </p:spPr>
      </p:pic>
      <p:pic>
        <p:nvPicPr>
          <p:cNvPr id="9" name="Picture 8">
            <a:extLst>
              <a:ext uri="{FF2B5EF4-FFF2-40B4-BE49-F238E27FC236}">
                <a16:creationId xmlns:a16="http://schemas.microsoft.com/office/drawing/2014/main" id="{9A141D1A-74EE-4068-BA26-CA9ADAD1607D}"/>
              </a:ext>
            </a:extLst>
          </p:cNvPr>
          <p:cNvPicPr>
            <a:picLocks noChangeAspect="1"/>
          </p:cNvPicPr>
          <p:nvPr/>
        </p:nvPicPr>
        <p:blipFill>
          <a:blip r:embed="rId4"/>
          <a:stretch>
            <a:fillRect/>
          </a:stretch>
        </p:blipFill>
        <p:spPr>
          <a:xfrm>
            <a:off x="0" y="0"/>
            <a:ext cx="9144000" cy="160577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TotalTime>
  <Words>1598</Words>
  <Application>Microsoft Office PowerPoint</Application>
  <PresentationFormat>Custom</PresentationFormat>
  <Paragraphs>222</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Source Sans 3</vt:lpstr>
      <vt:lpstr>Consolas</vt:lpstr>
      <vt:lpstr>Montserrat 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Hamid Leghari</cp:lastModifiedBy>
  <cp:revision>4</cp:revision>
  <dcterms:created xsi:type="dcterms:W3CDTF">2026-02-27T23:31:39Z</dcterms:created>
  <dcterms:modified xsi:type="dcterms:W3CDTF">2026-03-28T11:09:56Z</dcterms:modified>
</cp:coreProperties>
</file>